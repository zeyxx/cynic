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comments/modernComment_12A_0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74" r:id="rId3"/>
    <p:sldMasterId id="2147483678" r:id="rId4"/>
    <p:sldMasterId id="2147483680" r:id="rId5"/>
    <p:sldMasterId id="2147483688" r:id="rId6"/>
    <p:sldMasterId id="2147483690" r:id="rId7"/>
    <p:sldMasterId id="2147483692" r:id="rId8"/>
    <p:sldMasterId id="2147483694" r:id="rId9"/>
    <p:sldMasterId id="2147483696" r:id="rId10"/>
    <p:sldMasterId id="2147483698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</p:sldIdLst>
  <p:sldSz cx="12192000" cy="6858000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FFD55D9-BF5E-0981-4E1C-2FFAB4620FA7}" name="Houcine  HAMANA" initials="HH" userId="S::h.hamana@caplogy.com::9304277f-9594-439f-8eb5-f5aaa7e26c2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4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3" Type="http://schemas.openxmlformats.org/officeDocument/2006/relationships/slide" Target="slides/slide42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microsoft.com/office/2018/10/relationships/authors" Target="authors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56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59" Type="http://schemas.openxmlformats.org/officeDocument/2006/relationships/tableStyles" Target="tableStyles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slide" Target="slides/slide4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ucine  HAMANA" userId="9304277f-9594-439f-8eb5-f5aaa7e26c23" providerId="ADAL" clId="{A18C5F31-D356-4661-AA3F-97A63CE1A673}"/>
    <pc:docChg chg="modSld delMainMaster">
      <pc:chgData name="Houcine  HAMANA" userId="9304277f-9594-439f-8eb5-f5aaa7e26c23" providerId="ADAL" clId="{A18C5F31-D356-4661-AA3F-97A63CE1A673}" dt="2026-06-10T08:43:21.536" v="32" actId="20577"/>
      <pc:docMkLst>
        <pc:docMk/>
      </pc:docMkLst>
      <pc:sldChg chg="modSp mod">
        <pc:chgData name="Houcine  HAMANA" userId="9304277f-9594-439f-8eb5-f5aaa7e26c23" providerId="ADAL" clId="{A18C5F31-D356-4661-AA3F-97A63CE1A673}" dt="2026-06-10T08:26:50.377" v="25" actId="20577"/>
        <pc:sldMkLst>
          <pc:docMk/>
          <pc:sldMk cId="0" sldId="265"/>
        </pc:sldMkLst>
        <pc:spChg chg="mod">
          <ac:chgData name="Houcine  HAMANA" userId="9304277f-9594-439f-8eb5-f5aaa7e26c23" providerId="ADAL" clId="{A18C5F31-D356-4661-AA3F-97A63CE1A673}" dt="2026-06-10T08:26:50.377" v="25" actId="20577"/>
          <ac:spMkLst>
            <pc:docMk/>
            <pc:sldMk cId="0" sldId="265"/>
            <ac:spMk id="451" creationId="{00000000-0000-0000-0000-000000000000}"/>
          </ac:spMkLst>
        </pc:spChg>
      </pc:sldChg>
      <pc:sldChg chg="modSp mod">
        <pc:chgData name="Houcine  HAMANA" userId="9304277f-9594-439f-8eb5-f5aaa7e26c23" providerId="ADAL" clId="{A18C5F31-D356-4661-AA3F-97A63CE1A673}" dt="2026-06-10T08:27:33.636" v="27" actId="20577"/>
        <pc:sldMkLst>
          <pc:docMk/>
          <pc:sldMk cId="0" sldId="266"/>
        </pc:sldMkLst>
        <pc:spChg chg="mod">
          <ac:chgData name="Houcine  HAMANA" userId="9304277f-9594-439f-8eb5-f5aaa7e26c23" providerId="ADAL" clId="{A18C5F31-D356-4661-AA3F-97A63CE1A673}" dt="2026-06-10T08:27:33.636" v="27" actId="20577"/>
          <ac:spMkLst>
            <pc:docMk/>
            <pc:sldMk cId="0" sldId="266"/>
            <ac:spMk id="455" creationId="{00000000-0000-0000-0000-000000000000}"/>
          </ac:spMkLst>
        </pc:spChg>
      </pc:sldChg>
      <pc:sldChg chg="modSp mod">
        <pc:chgData name="Houcine  HAMANA" userId="9304277f-9594-439f-8eb5-f5aaa7e26c23" providerId="ADAL" clId="{A18C5F31-D356-4661-AA3F-97A63CE1A673}" dt="2026-06-10T08:43:21.536" v="32" actId="20577"/>
        <pc:sldMkLst>
          <pc:docMk/>
          <pc:sldMk cId="0" sldId="287"/>
        </pc:sldMkLst>
        <pc:spChg chg="mod">
          <ac:chgData name="Houcine  HAMANA" userId="9304277f-9594-439f-8eb5-f5aaa7e26c23" providerId="ADAL" clId="{A18C5F31-D356-4661-AA3F-97A63CE1A673}" dt="2026-06-10T08:43:21.536" v="32" actId="20577"/>
          <ac:spMkLst>
            <pc:docMk/>
            <pc:sldMk cId="0" sldId="287"/>
            <ac:spMk id="538" creationId="{00000000-0000-0000-0000-000000000000}"/>
          </ac:spMkLst>
        </pc:spChg>
      </pc:sldChg>
      <pc:sldChg chg="addSp modSp mod">
        <pc:chgData name="Houcine  HAMANA" userId="9304277f-9594-439f-8eb5-f5aaa7e26c23" providerId="ADAL" clId="{A18C5F31-D356-4661-AA3F-97A63CE1A673}" dt="2026-06-09T13:09:32.434" v="22" actId="122"/>
        <pc:sldMkLst>
          <pc:docMk/>
          <pc:sldMk cId="0" sldId="298"/>
        </pc:sldMkLst>
        <pc:spChg chg="add mod">
          <ac:chgData name="Houcine  HAMANA" userId="9304277f-9594-439f-8eb5-f5aaa7e26c23" providerId="ADAL" clId="{A18C5F31-D356-4661-AA3F-97A63CE1A673}" dt="2026-06-09T13:09:32.434" v="22" actId="122"/>
          <ac:spMkLst>
            <pc:docMk/>
            <pc:sldMk cId="0" sldId="298"/>
            <ac:spMk id="3" creationId="{76147686-0B55-138B-EF51-43C3EE5425FC}"/>
          </ac:spMkLst>
        </pc:spChg>
      </pc:sldChg>
      <pc:sldMasterChg chg="del delSldLayout">
        <pc:chgData name="Houcine  HAMANA" userId="9304277f-9594-439f-8eb5-f5aaa7e26c23" providerId="ADAL" clId="{A18C5F31-D356-4661-AA3F-97A63CE1A673}" dt="2026-06-09T13:08:14.756" v="0"/>
        <pc:sldMasterMkLst>
          <pc:docMk/>
          <pc:sldMasterMk cId="0" sldId="2147483650"/>
        </pc:sldMasterMkLst>
        <pc:sldLayoutChg chg="del">
          <pc:chgData name="Houcine  HAMANA" userId="9304277f-9594-439f-8eb5-f5aaa7e26c23" providerId="ADAL" clId="{A18C5F31-D356-4661-AA3F-97A63CE1A673}" dt="2026-06-09T13:08:14.756" v="0"/>
          <pc:sldLayoutMkLst>
            <pc:docMk/>
            <pc:sldMasterMk cId="0" sldId="2147483650"/>
            <pc:sldLayoutMk cId="0" sldId="2147483651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3:08:14.756" v="0"/>
        <pc:sldMasterMkLst>
          <pc:docMk/>
          <pc:sldMasterMk cId="0" sldId="2147483652"/>
        </pc:sldMasterMkLst>
        <pc:sldLayoutChg chg="del">
          <pc:chgData name="Houcine  HAMANA" userId="9304277f-9594-439f-8eb5-f5aaa7e26c23" providerId="ADAL" clId="{A18C5F31-D356-4661-AA3F-97A63CE1A673}" dt="2026-06-09T13:08:14.756" v="0"/>
          <pc:sldLayoutMkLst>
            <pc:docMk/>
            <pc:sldMasterMk cId="0" sldId="2147483652"/>
            <pc:sldLayoutMk cId="0" sldId="2147483653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3:08:14.756" v="0"/>
        <pc:sldMasterMkLst>
          <pc:docMk/>
          <pc:sldMasterMk cId="0" sldId="2147483654"/>
        </pc:sldMasterMkLst>
        <pc:sldLayoutChg chg="del">
          <pc:chgData name="Houcine  HAMANA" userId="9304277f-9594-439f-8eb5-f5aaa7e26c23" providerId="ADAL" clId="{A18C5F31-D356-4661-AA3F-97A63CE1A673}" dt="2026-06-09T13:08:14.756" v="0"/>
          <pc:sldLayoutMkLst>
            <pc:docMk/>
            <pc:sldMasterMk cId="0" sldId="2147483654"/>
            <pc:sldLayoutMk cId="0" sldId="2147483655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3:08:14.756" v="0"/>
        <pc:sldMasterMkLst>
          <pc:docMk/>
          <pc:sldMasterMk cId="0" sldId="2147483656"/>
        </pc:sldMasterMkLst>
        <pc:sldLayoutChg chg="del">
          <pc:chgData name="Houcine  HAMANA" userId="9304277f-9594-439f-8eb5-f5aaa7e26c23" providerId="ADAL" clId="{A18C5F31-D356-4661-AA3F-97A63CE1A673}" dt="2026-06-09T13:08:14.756" v="0"/>
          <pc:sldLayoutMkLst>
            <pc:docMk/>
            <pc:sldMasterMk cId="0" sldId="2147483656"/>
            <pc:sldLayoutMk cId="0" sldId="2147483657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3:08:14.756" v="0"/>
        <pc:sldMasterMkLst>
          <pc:docMk/>
          <pc:sldMasterMk cId="0" sldId="2147483658"/>
        </pc:sldMasterMkLst>
        <pc:sldLayoutChg chg="del">
          <pc:chgData name="Houcine  HAMANA" userId="9304277f-9594-439f-8eb5-f5aaa7e26c23" providerId="ADAL" clId="{A18C5F31-D356-4661-AA3F-97A63CE1A673}" dt="2026-06-09T13:08:14.756" v="0"/>
          <pc:sldLayoutMkLst>
            <pc:docMk/>
            <pc:sldMasterMk cId="0" sldId="2147483658"/>
            <pc:sldLayoutMk cId="0" sldId="2147483659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3:08:14.756" v="0"/>
        <pc:sldMasterMkLst>
          <pc:docMk/>
          <pc:sldMasterMk cId="0" sldId="2147483660"/>
        </pc:sldMasterMkLst>
        <pc:sldLayoutChg chg="del">
          <pc:chgData name="Houcine  HAMANA" userId="9304277f-9594-439f-8eb5-f5aaa7e26c23" providerId="ADAL" clId="{A18C5F31-D356-4661-AA3F-97A63CE1A673}" dt="2026-06-09T13:08:14.756" v="0"/>
          <pc:sldLayoutMkLst>
            <pc:docMk/>
            <pc:sldMasterMk cId="0" sldId="2147483660"/>
            <pc:sldLayoutMk cId="0" sldId="2147483661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3:08:14.756" v="0"/>
        <pc:sldMasterMkLst>
          <pc:docMk/>
          <pc:sldMasterMk cId="0" sldId="2147483662"/>
        </pc:sldMasterMkLst>
        <pc:sldLayoutChg chg="del">
          <pc:chgData name="Houcine  HAMANA" userId="9304277f-9594-439f-8eb5-f5aaa7e26c23" providerId="ADAL" clId="{A18C5F31-D356-4661-AA3F-97A63CE1A673}" dt="2026-06-09T13:08:14.756" v="0"/>
          <pc:sldLayoutMkLst>
            <pc:docMk/>
            <pc:sldMasterMk cId="0" sldId="2147483662"/>
            <pc:sldLayoutMk cId="0" sldId="2147483663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3:08:14.756" v="0"/>
        <pc:sldMasterMkLst>
          <pc:docMk/>
          <pc:sldMasterMk cId="0" sldId="2147483664"/>
        </pc:sldMasterMkLst>
        <pc:sldLayoutChg chg="del">
          <pc:chgData name="Houcine  HAMANA" userId="9304277f-9594-439f-8eb5-f5aaa7e26c23" providerId="ADAL" clId="{A18C5F31-D356-4661-AA3F-97A63CE1A673}" dt="2026-06-09T13:08:14.756" v="0"/>
          <pc:sldLayoutMkLst>
            <pc:docMk/>
            <pc:sldMasterMk cId="0" sldId="2147483664"/>
            <pc:sldLayoutMk cId="0" sldId="2147483665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3:08:14.756" v="0"/>
        <pc:sldMasterMkLst>
          <pc:docMk/>
          <pc:sldMasterMk cId="0" sldId="2147483666"/>
        </pc:sldMasterMkLst>
        <pc:sldLayoutChg chg="del">
          <pc:chgData name="Houcine  HAMANA" userId="9304277f-9594-439f-8eb5-f5aaa7e26c23" providerId="ADAL" clId="{A18C5F31-D356-4661-AA3F-97A63CE1A673}" dt="2026-06-09T13:08:14.756" v="0"/>
          <pc:sldLayoutMkLst>
            <pc:docMk/>
            <pc:sldMasterMk cId="0" sldId="2147483666"/>
            <pc:sldLayoutMk cId="0" sldId="2147483667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3:08:14.756" v="0"/>
        <pc:sldMasterMkLst>
          <pc:docMk/>
          <pc:sldMasterMk cId="0" sldId="2147483668"/>
        </pc:sldMasterMkLst>
        <pc:sldLayoutChg chg="del">
          <pc:chgData name="Houcine  HAMANA" userId="9304277f-9594-439f-8eb5-f5aaa7e26c23" providerId="ADAL" clId="{A18C5F31-D356-4661-AA3F-97A63CE1A673}" dt="2026-06-09T13:08:14.756" v="0"/>
          <pc:sldLayoutMkLst>
            <pc:docMk/>
            <pc:sldMasterMk cId="0" sldId="2147483668"/>
            <pc:sldLayoutMk cId="0" sldId="2147483669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3:08:14.756" v="0"/>
        <pc:sldMasterMkLst>
          <pc:docMk/>
          <pc:sldMasterMk cId="0" sldId="2147483670"/>
        </pc:sldMasterMkLst>
        <pc:sldLayoutChg chg="del">
          <pc:chgData name="Houcine  HAMANA" userId="9304277f-9594-439f-8eb5-f5aaa7e26c23" providerId="ADAL" clId="{A18C5F31-D356-4661-AA3F-97A63CE1A673}" dt="2026-06-09T13:08:14.756" v="0"/>
          <pc:sldLayoutMkLst>
            <pc:docMk/>
            <pc:sldMasterMk cId="0" sldId="2147483670"/>
            <pc:sldLayoutMk cId="0" sldId="2147483671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3:08:14.756" v="0"/>
        <pc:sldMasterMkLst>
          <pc:docMk/>
          <pc:sldMasterMk cId="0" sldId="2147483676"/>
        </pc:sldMasterMkLst>
        <pc:sldLayoutChg chg="del">
          <pc:chgData name="Houcine  HAMANA" userId="9304277f-9594-439f-8eb5-f5aaa7e26c23" providerId="ADAL" clId="{A18C5F31-D356-4661-AA3F-97A63CE1A673}" dt="2026-06-09T13:08:14.756" v="0"/>
          <pc:sldLayoutMkLst>
            <pc:docMk/>
            <pc:sldMasterMk cId="0" sldId="2147483676"/>
            <pc:sldLayoutMk cId="0" sldId="2147483677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3:08:14.756" v="0"/>
        <pc:sldMasterMkLst>
          <pc:docMk/>
          <pc:sldMasterMk cId="0" sldId="2147483682"/>
        </pc:sldMasterMkLst>
        <pc:sldLayoutChg chg="del">
          <pc:chgData name="Houcine  HAMANA" userId="9304277f-9594-439f-8eb5-f5aaa7e26c23" providerId="ADAL" clId="{A18C5F31-D356-4661-AA3F-97A63CE1A673}" dt="2026-06-09T13:08:14.756" v="0"/>
          <pc:sldLayoutMkLst>
            <pc:docMk/>
            <pc:sldMasterMk cId="0" sldId="2147483682"/>
            <pc:sldLayoutMk cId="0" sldId="2147483683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3:08:14.756" v="0"/>
        <pc:sldMasterMkLst>
          <pc:docMk/>
          <pc:sldMasterMk cId="0" sldId="2147483684"/>
        </pc:sldMasterMkLst>
        <pc:sldLayoutChg chg="del">
          <pc:chgData name="Houcine  HAMANA" userId="9304277f-9594-439f-8eb5-f5aaa7e26c23" providerId="ADAL" clId="{A18C5F31-D356-4661-AA3F-97A63CE1A673}" dt="2026-06-09T13:08:14.756" v="0"/>
          <pc:sldLayoutMkLst>
            <pc:docMk/>
            <pc:sldMasterMk cId="0" sldId="2147483684"/>
            <pc:sldLayoutMk cId="0" sldId="2147483685"/>
          </pc:sldLayoutMkLst>
        </pc:sldLayoutChg>
      </pc:sldMasterChg>
      <pc:sldMasterChg chg="del delSldLayout">
        <pc:chgData name="Houcine  HAMANA" userId="9304277f-9594-439f-8eb5-f5aaa7e26c23" providerId="ADAL" clId="{A18C5F31-D356-4661-AA3F-97A63CE1A673}" dt="2026-06-09T13:08:14.756" v="0"/>
        <pc:sldMasterMkLst>
          <pc:docMk/>
          <pc:sldMasterMk cId="0" sldId="2147483686"/>
        </pc:sldMasterMkLst>
        <pc:sldLayoutChg chg="del">
          <pc:chgData name="Houcine  HAMANA" userId="9304277f-9594-439f-8eb5-f5aaa7e26c23" providerId="ADAL" clId="{A18C5F31-D356-4661-AA3F-97A63CE1A673}" dt="2026-06-09T13:08:14.756" v="0"/>
          <pc:sldLayoutMkLst>
            <pc:docMk/>
            <pc:sldMasterMk cId="0" sldId="2147483686"/>
            <pc:sldLayoutMk cId="0" sldId="2147483687"/>
          </pc:sldLayoutMkLst>
        </pc:sldLayoutChg>
      </pc:sldMasterChg>
    </pc:docChg>
  </pc:docChgLst>
</pc:chgInfo>
</file>

<file path=ppt/comments/modernComment_12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122A018-2582-413A-B3AB-5ACCAC5DB1A7}" authorId="{BFFD55D9-BF5E-0981-4E1C-2FFAB4620FA7}" created="2026-06-09T13:08:03.724">
    <pc:sldMkLst xmlns:pc="http://schemas.microsoft.com/office/powerpoint/2013/main/command">
      <pc:docMk/>
      <pc:sldMk cId="0" sldId="298"/>
    </pc:sldMkLst>
    <p188:txBody>
      <a:bodyPr/>
      <a:lstStyle/>
      <a:p>
        <a:r>
          <a:rPr lang="fr-FR"/>
          <a:t>L’abstraction, c’est le fait de masquer la complexité technique.
Gagnant : SaaS (ex: Microsoft 365, Snowflake). L'utilisateur ne voit absolument rien de la technique (pas de serveurs, pas de code, pas d'OS). C'est le niveau d'abstraction maximal : on clique et on utilise.
La flexibilité d'usage, c'est la liberté totale de faire ce que l'on veut avec la ressource.
Gagnant : IaaS (ex: AWS EC2, une machine virtuelle vide). On te donne un ordinateur brut. Tu peux y installer n'importe quel système d'exploitation, y mettre du code, en faire un serveur de jeu, un site web, ou du stockage. La liberté est totale. À l'inverse, un SaaS est rigide : tu ne peux pas utiliser Netflix pour gérer la comptabilité d'une entreprise.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sposition des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FAC8AAAE-BBAE-42FC-A941-192F655AEAC7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if du co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EB8ABD8B-6BC5-4DD6-8504-2F802175E930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9CD4052F-1035-47F3-A512-9D453FCDDAEA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9228DB90-658F-466C-B721-EEFB7FD0A69A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de section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3120C9AE-B4FD-4A4C-82F6-494C947D0A91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4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de section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2"/>
          </p:nvPr>
        </p:nvSpPr>
        <p:spPr/>
        <p:txBody>
          <a:bodyPr/>
          <a:lstStyle/>
          <a:p>
            <a:fld id="{9597FB2B-2493-4815-90A4-0774D431C5F4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4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et contenu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4069C624-8B08-4033-A55A-ED7C619DB376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4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et contenu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AA4ECD54-3110-4DC8-896D-E9C78CBFB795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4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et contenu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FA71A238-CE9A-4A50-98F1-DB75396244E2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4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re de section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0"/>
          </p:nvPr>
        </p:nvSpPr>
        <p:spPr/>
        <p:txBody>
          <a:bodyPr/>
          <a:lstStyle/>
          <a:p>
            <a:fld id="{D11ABB56-7B04-4EBC-86D6-1D8CA111A9EA}" type="slidenum">
              <a:t>‹N°›</a:t>
            </a:fld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dt" idx="5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E6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e la date 3"/>
          <p:cNvSpPr/>
          <p:nvPr/>
        </p:nvSpPr>
        <p:spPr>
          <a:xfrm>
            <a:off x="1238760" y="6352560"/>
            <a:ext cx="2259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Espace réservé de la date 3"/>
          <p:cNvSpPr/>
          <p:nvPr/>
        </p:nvSpPr>
        <p:spPr>
          <a:xfrm>
            <a:off x="616680" y="6352560"/>
            <a:ext cx="2538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" name="Groupe 11"/>
          <p:cNvGrpSpPr/>
          <p:nvPr/>
        </p:nvGrpSpPr>
        <p:grpSpPr>
          <a:xfrm>
            <a:off x="871560" y="203040"/>
            <a:ext cx="10449000" cy="262800"/>
            <a:chOff x="871560" y="203040"/>
            <a:chExt cx="10449000" cy="262800"/>
          </a:xfrm>
        </p:grpSpPr>
        <p:cxnSp>
          <p:nvCxnSpPr>
            <p:cNvPr id="3" name="Connecteur droit 12"/>
            <p:cNvCxnSpPr/>
            <p:nvPr/>
          </p:nvCxnSpPr>
          <p:spPr>
            <a:xfrm>
              <a:off x="871560" y="334800"/>
              <a:ext cx="151920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4" name="Connecteur droit 13"/>
            <p:cNvCxnSpPr/>
            <p:nvPr/>
          </p:nvCxnSpPr>
          <p:spPr>
            <a:xfrm>
              <a:off x="2390040" y="336240"/>
              <a:ext cx="151884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5" name="Connecteur droit 14"/>
            <p:cNvCxnSpPr/>
            <p:nvPr/>
          </p:nvCxnSpPr>
          <p:spPr>
            <a:xfrm>
              <a:off x="3899880" y="334800"/>
              <a:ext cx="371088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6" name="Connecteur droit 15"/>
            <p:cNvCxnSpPr/>
            <p:nvPr/>
          </p:nvCxnSpPr>
          <p:spPr>
            <a:xfrm>
              <a:off x="7610040" y="334800"/>
              <a:ext cx="371088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7" name="Ellipse 16"/>
            <p:cNvSpPr/>
            <p:nvPr/>
          </p:nvSpPr>
          <p:spPr>
            <a:xfrm>
              <a:off x="225828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8" name="Ellipse 17"/>
            <p:cNvSpPr/>
            <p:nvPr/>
          </p:nvSpPr>
          <p:spPr>
            <a:xfrm>
              <a:off x="3768480" y="203040"/>
              <a:ext cx="262800" cy="26280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9" name="Ellipse 18"/>
            <p:cNvSpPr/>
            <p:nvPr/>
          </p:nvSpPr>
          <p:spPr>
            <a:xfrm>
              <a:off x="747864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pic>
        <p:nvPicPr>
          <p:cNvPr id="10" name="Picture 2" descr="Home | Caplogy"/>
          <p:cNvPicPr/>
          <p:nvPr/>
        </p:nvPicPr>
        <p:blipFill>
          <a:blip r:embed="rId3"/>
          <a:srcRect r="62886"/>
          <a:stretch/>
        </p:blipFill>
        <p:spPr>
          <a:xfrm>
            <a:off x="132480" y="6153840"/>
            <a:ext cx="524520" cy="762120"/>
          </a:xfrm>
          <a:prstGeom prst="rect">
            <a:avLst/>
          </a:prstGeom>
          <a:ln w="0">
            <a:noFill/>
          </a:ln>
        </p:spPr>
      </p:pic>
      <p:grpSp>
        <p:nvGrpSpPr>
          <p:cNvPr id="11" name="Groupe 29"/>
          <p:cNvGrpSpPr/>
          <p:nvPr/>
        </p:nvGrpSpPr>
        <p:grpSpPr>
          <a:xfrm>
            <a:off x="4115880" y="5576760"/>
            <a:ext cx="3960360" cy="305280"/>
            <a:chOff x="4115880" y="5576760"/>
            <a:chExt cx="3960360" cy="305280"/>
          </a:xfrm>
        </p:grpSpPr>
        <p:cxnSp>
          <p:nvCxnSpPr>
            <p:cNvPr id="12" name="Connecteur droit 24"/>
            <p:cNvCxnSpPr/>
            <p:nvPr/>
          </p:nvCxnSpPr>
          <p:spPr>
            <a:xfrm>
              <a:off x="4115880" y="5576760"/>
              <a:ext cx="3960720" cy="720"/>
            </a:xfrm>
            <a:prstGeom prst="straightConnector1">
              <a:avLst/>
            </a:prstGeom>
            <a:ln w="19050">
              <a:solidFill>
                <a:srgbClr val="5B5B79"/>
              </a:solidFill>
              <a:round/>
            </a:ln>
          </p:spPr>
        </p:cxnSp>
        <p:cxnSp>
          <p:nvCxnSpPr>
            <p:cNvPr id="13" name="Connecteur droit 25"/>
            <p:cNvCxnSpPr/>
            <p:nvPr/>
          </p:nvCxnSpPr>
          <p:spPr>
            <a:xfrm>
              <a:off x="4655880" y="5729400"/>
              <a:ext cx="2880720" cy="720"/>
            </a:xfrm>
            <a:prstGeom prst="straightConnector1">
              <a:avLst/>
            </a:prstGeom>
            <a:ln w="19050">
              <a:solidFill>
                <a:srgbClr val="71D2E3"/>
              </a:solidFill>
              <a:round/>
            </a:ln>
          </p:spPr>
        </p:cxnSp>
        <p:cxnSp>
          <p:nvCxnSpPr>
            <p:cNvPr id="14" name="Connecteur droit 28"/>
            <p:cNvCxnSpPr/>
            <p:nvPr/>
          </p:nvCxnSpPr>
          <p:spPr>
            <a:xfrm>
              <a:off x="5195880" y="5881680"/>
              <a:ext cx="1800720" cy="720"/>
            </a:xfrm>
            <a:prstGeom prst="straightConnector1">
              <a:avLst/>
            </a:prstGeom>
            <a:ln w="19050">
              <a:solidFill>
                <a:srgbClr val="5B5B79"/>
              </a:solidFill>
              <a:round/>
            </a:ln>
          </p:spPr>
        </p:cxnSp>
      </p:grpSp>
      <p:sp>
        <p:nvSpPr>
          <p:cNvPr id="15" name="Rectangle 4"/>
          <p:cNvSpPr/>
          <p:nvPr/>
        </p:nvSpPr>
        <p:spPr>
          <a:xfrm>
            <a:off x="1523880" y="1402560"/>
            <a:ext cx="9143280" cy="2386800"/>
          </a:xfrm>
          <a:prstGeom prst="rect">
            <a:avLst/>
          </a:prstGeom>
          <a:noFill/>
          <a:ln w="9525">
            <a:solidFill>
              <a:srgbClr val="A9A9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dt" idx="1"/>
          </p:nvPr>
        </p:nvSpPr>
        <p:spPr>
          <a:xfrm>
            <a:off x="838080" y="6352560"/>
            <a:ext cx="545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E6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Espace réservé de la date 3"/>
          <p:cNvSpPr/>
          <p:nvPr/>
        </p:nvSpPr>
        <p:spPr>
          <a:xfrm>
            <a:off x="1238760" y="6352560"/>
            <a:ext cx="2259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Espace réservé de la date 3"/>
          <p:cNvSpPr/>
          <p:nvPr/>
        </p:nvSpPr>
        <p:spPr>
          <a:xfrm>
            <a:off x="616680" y="6352560"/>
            <a:ext cx="2538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92" name="Groupe 11"/>
          <p:cNvGrpSpPr/>
          <p:nvPr/>
        </p:nvGrpSpPr>
        <p:grpSpPr>
          <a:xfrm>
            <a:off x="871560" y="203040"/>
            <a:ext cx="10449000" cy="262800"/>
            <a:chOff x="871560" y="203040"/>
            <a:chExt cx="10449000" cy="262800"/>
          </a:xfrm>
        </p:grpSpPr>
        <p:cxnSp>
          <p:nvCxnSpPr>
            <p:cNvPr id="193" name="Connecteur droit 12"/>
            <p:cNvCxnSpPr/>
            <p:nvPr/>
          </p:nvCxnSpPr>
          <p:spPr>
            <a:xfrm>
              <a:off x="871560" y="334800"/>
              <a:ext cx="151920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194" name="Connecteur droit 13"/>
            <p:cNvCxnSpPr/>
            <p:nvPr/>
          </p:nvCxnSpPr>
          <p:spPr>
            <a:xfrm>
              <a:off x="2390040" y="336240"/>
              <a:ext cx="151884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195" name="Connecteur droit 14"/>
            <p:cNvCxnSpPr/>
            <p:nvPr/>
          </p:nvCxnSpPr>
          <p:spPr>
            <a:xfrm>
              <a:off x="3899880" y="334800"/>
              <a:ext cx="371088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196" name="Connecteur droit 15"/>
            <p:cNvCxnSpPr/>
            <p:nvPr/>
          </p:nvCxnSpPr>
          <p:spPr>
            <a:xfrm>
              <a:off x="7610040" y="334800"/>
              <a:ext cx="371088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197" name="Ellipse 16"/>
            <p:cNvSpPr/>
            <p:nvPr/>
          </p:nvSpPr>
          <p:spPr>
            <a:xfrm>
              <a:off x="225828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198" name="Ellipse 17"/>
            <p:cNvSpPr/>
            <p:nvPr/>
          </p:nvSpPr>
          <p:spPr>
            <a:xfrm>
              <a:off x="3768480" y="203040"/>
              <a:ext cx="262800" cy="26280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199" name="Ellipse 18"/>
            <p:cNvSpPr/>
            <p:nvPr/>
          </p:nvSpPr>
          <p:spPr>
            <a:xfrm>
              <a:off x="747864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200" name="Rectangle 11"/>
          <p:cNvSpPr/>
          <p:nvPr/>
        </p:nvSpPr>
        <p:spPr>
          <a:xfrm>
            <a:off x="10890360" y="6419880"/>
            <a:ext cx="1300680" cy="23004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grpSp>
        <p:nvGrpSpPr>
          <p:cNvPr id="201" name="Groupe 24"/>
          <p:cNvGrpSpPr/>
          <p:nvPr/>
        </p:nvGrpSpPr>
        <p:grpSpPr>
          <a:xfrm>
            <a:off x="2760840" y="954720"/>
            <a:ext cx="6670440" cy="3980160"/>
            <a:chOff x="2760840" y="954720"/>
            <a:chExt cx="6670440" cy="3980160"/>
          </a:xfrm>
        </p:grpSpPr>
        <p:cxnSp>
          <p:nvCxnSpPr>
            <p:cNvPr id="202" name="Connecteur droit 7"/>
            <p:cNvCxnSpPr/>
            <p:nvPr/>
          </p:nvCxnSpPr>
          <p:spPr>
            <a:xfrm>
              <a:off x="4750920" y="4335120"/>
              <a:ext cx="4680720" cy="720"/>
            </a:xfrm>
            <a:prstGeom prst="straightConnector1">
              <a:avLst/>
            </a:prstGeom>
            <a:ln w="57150">
              <a:solidFill>
                <a:srgbClr val="2987B1"/>
              </a:solidFill>
              <a:round/>
            </a:ln>
          </p:spPr>
        </p:cxnSp>
        <p:pic>
          <p:nvPicPr>
            <p:cNvPr id="203" name="Graphique 5" descr="Point d’interrogation avec un remplissage uni"/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/>
          </p:blipFill>
          <p:spPr>
            <a:xfrm>
              <a:off x="2760840" y="954720"/>
              <a:ext cx="3980160" cy="3980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4" name="ZoneTexte 8"/>
            <p:cNvSpPr/>
            <p:nvPr/>
          </p:nvSpPr>
          <p:spPr>
            <a:xfrm>
              <a:off x="5325840" y="3653640"/>
              <a:ext cx="410472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fr-FR" sz="3600" b="1" u="none" strike="noStrike">
                  <a:solidFill>
                    <a:srgbClr val="424258"/>
                  </a:solidFill>
                  <a:uFillTx/>
                  <a:latin typeface="Georgia"/>
                </a:rPr>
                <a:t>Des questions</a:t>
              </a:r>
              <a:endParaRPr lang="fr-FR" sz="36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05" name="Ellipse 9"/>
            <p:cNvSpPr/>
            <p:nvPr/>
          </p:nvSpPr>
          <p:spPr>
            <a:xfrm>
              <a:off x="4434120" y="4018320"/>
              <a:ext cx="633600" cy="633600"/>
            </a:xfrm>
            <a:prstGeom prst="ellipse">
              <a:avLst/>
            </a:prstGeom>
            <a:solidFill>
              <a:srgbClr val="42425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206" name="PlaceHolder 1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0DA513-3D06-4FF5-B618-2D5BFC7DAF84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20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209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Espace réservé de la date 3"/>
          <p:cNvSpPr/>
          <p:nvPr/>
        </p:nvSpPr>
        <p:spPr>
          <a:xfrm>
            <a:off x="1238760" y="6352560"/>
            <a:ext cx="2259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Espace réservé de la date 3"/>
          <p:cNvSpPr/>
          <p:nvPr/>
        </p:nvSpPr>
        <p:spPr>
          <a:xfrm>
            <a:off x="616680" y="6352560"/>
            <a:ext cx="2538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12" name="Groupe 11"/>
          <p:cNvGrpSpPr/>
          <p:nvPr/>
        </p:nvGrpSpPr>
        <p:grpSpPr>
          <a:xfrm>
            <a:off x="871560" y="203040"/>
            <a:ext cx="10449000" cy="262800"/>
            <a:chOff x="871560" y="203040"/>
            <a:chExt cx="10449000" cy="262800"/>
          </a:xfrm>
        </p:grpSpPr>
        <p:cxnSp>
          <p:nvCxnSpPr>
            <p:cNvPr id="213" name="Connecteur droit 12"/>
            <p:cNvCxnSpPr/>
            <p:nvPr/>
          </p:nvCxnSpPr>
          <p:spPr>
            <a:xfrm>
              <a:off x="871560" y="334800"/>
              <a:ext cx="151920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214" name="Connecteur droit 13"/>
            <p:cNvCxnSpPr/>
            <p:nvPr/>
          </p:nvCxnSpPr>
          <p:spPr>
            <a:xfrm>
              <a:off x="2390040" y="336240"/>
              <a:ext cx="151884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215" name="Connecteur droit 14"/>
            <p:cNvCxnSpPr/>
            <p:nvPr/>
          </p:nvCxnSpPr>
          <p:spPr>
            <a:xfrm>
              <a:off x="3899880" y="334800"/>
              <a:ext cx="371088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216" name="Connecteur droit 15"/>
            <p:cNvCxnSpPr/>
            <p:nvPr/>
          </p:nvCxnSpPr>
          <p:spPr>
            <a:xfrm>
              <a:off x="7610040" y="334800"/>
              <a:ext cx="371088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217" name="Ellipse 16"/>
            <p:cNvSpPr/>
            <p:nvPr/>
          </p:nvSpPr>
          <p:spPr>
            <a:xfrm>
              <a:off x="225828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218" name="Ellipse 17"/>
            <p:cNvSpPr/>
            <p:nvPr/>
          </p:nvSpPr>
          <p:spPr>
            <a:xfrm>
              <a:off x="3768480" y="203040"/>
              <a:ext cx="262800" cy="26280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219" name="Ellipse 18"/>
            <p:cNvSpPr/>
            <p:nvPr/>
          </p:nvSpPr>
          <p:spPr>
            <a:xfrm>
              <a:off x="747864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220" name="Rectangle 14"/>
          <p:cNvSpPr/>
          <p:nvPr/>
        </p:nvSpPr>
        <p:spPr>
          <a:xfrm>
            <a:off x="10890360" y="6419880"/>
            <a:ext cx="1300680" cy="23004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cxnSp>
        <p:nvCxnSpPr>
          <p:cNvPr id="221" name="Connecteur droit 7"/>
          <p:cNvCxnSpPr/>
          <p:nvPr/>
        </p:nvCxnSpPr>
        <p:spPr>
          <a:xfrm>
            <a:off x="836280" y="2196360"/>
            <a:ext cx="3710880" cy="720"/>
          </a:xfrm>
          <a:prstGeom prst="straightConnector1">
            <a:avLst/>
          </a:prstGeom>
          <a:ln w="19050">
            <a:solidFill>
              <a:srgbClr val="5B5B79"/>
            </a:solidFill>
            <a:round/>
          </a:ln>
        </p:spPr>
      </p:cxnSp>
      <p:sp>
        <p:nvSpPr>
          <p:cNvPr id="222" name="PlaceHolder 1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579D0B-B1C7-484B-AFC9-3F9293499A3B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22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22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E6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Espace réservé de la date 3"/>
          <p:cNvSpPr/>
          <p:nvPr/>
        </p:nvSpPr>
        <p:spPr>
          <a:xfrm>
            <a:off x="1238760" y="6352560"/>
            <a:ext cx="2259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Espace réservé de la date 3"/>
          <p:cNvSpPr/>
          <p:nvPr/>
        </p:nvSpPr>
        <p:spPr>
          <a:xfrm>
            <a:off x="616680" y="6352560"/>
            <a:ext cx="2538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42" name="Groupe 11"/>
          <p:cNvGrpSpPr/>
          <p:nvPr/>
        </p:nvGrpSpPr>
        <p:grpSpPr>
          <a:xfrm>
            <a:off x="871560" y="203040"/>
            <a:ext cx="10449000" cy="262800"/>
            <a:chOff x="871560" y="203040"/>
            <a:chExt cx="10449000" cy="262800"/>
          </a:xfrm>
        </p:grpSpPr>
        <p:cxnSp>
          <p:nvCxnSpPr>
            <p:cNvPr id="243" name="Connecteur droit 12"/>
            <p:cNvCxnSpPr/>
            <p:nvPr/>
          </p:nvCxnSpPr>
          <p:spPr>
            <a:xfrm>
              <a:off x="871560" y="334800"/>
              <a:ext cx="151920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244" name="Connecteur droit 13"/>
            <p:cNvCxnSpPr/>
            <p:nvPr/>
          </p:nvCxnSpPr>
          <p:spPr>
            <a:xfrm>
              <a:off x="2390040" y="336240"/>
              <a:ext cx="151884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245" name="Connecteur droit 14"/>
            <p:cNvCxnSpPr/>
            <p:nvPr/>
          </p:nvCxnSpPr>
          <p:spPr>
            <a:xfrm>
              <a:off x="3899880" y="334800"/>
              <a:ext cx="371088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246" name="Connecteur droit 15"/>
            <p:cNvCxnSpPr/>
            <p:nvPr/>
          </p:nvCxnSpPr>
          <p:spPr>
            <a:xfrm>
              <a:off x="7610040" y="334800"/>
              <a:ext cx="371088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247" name="Ellipse 16"/>
            <p:cNvSpPr/>
            <p:nvPr/>
          </p:nvSpPr>
          <p:spPr>
            <a:xfrm>
              <a:off x="225828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248" name="Ellipse 17"/>
            <p:cNvSpPr/>
            <p:nvPr/>
          </p:nvSpPr>
          <p:spPr>
            <a:xfrm>
              <a:off x="3768480" y="203040"/>
              <a:ext cx="262800" cy="26280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249" name="Ellipse 18"/>
            <p:cNvSpPr/>
            <p:nvPr/>
          </p:nvSpPr>
          <p:spPr>
            <a:xfrm>
              <a:off x="747864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250" name="Rectangle 4"/>
          <p:cNvSpPr/>
          <p:nvPr/>
        </p:nvSpPr>
        <p:spPr>
          <a:xfrm>
            <a:off x="10890360" y="6419880"/>
            <a:ext cx="1300680" cy="23004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251" name="Flèche : pentagone 6"/>
          <p:cNvSpPr/>
          <p:nvPr/>
        </p:nvSpPr>
        <p:spPr>
          <a:xfrm>
            <a:off x="848880" y="1619280"/>
            <a:ext cx="10504080" cy="2808000"/>
          </a:xfrm>
          <a:prstGeom prst="homePlate">
            <a:avLst>
              <a:gd name="adj" fmla="val 50000"/>
            </a:avLst>
          </a:prstGeom>
          <a:noFill/>
          <a:ln w="38100">
            <a:solidFill>
              <a:srgbClr val="71D2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166404-7442-412D-B614-BC5BDF922916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254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255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Espace réservé de la date 3"/>
          <p:cNvSpPr/>
          <p:nvPr/>
        </p:nvSpPr>
        <p:spPr>
          <a:xfrm>
            <a:off x="1238760" y="6352560"/>
            <a:ext cx="2259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Espace réservé de la date 3"/>
          <p:cNvSpPr/>
          <p:nvPr/>
        </p:nvSpPr>
        <p:spPr>
          <a:xfrm>
            <a:off x="616680" y="6352560"/>
            <a:ext cx="2538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58" name="Groupe 11"/>
          <p:cNvGrpSpPr/>
          <p:nvPr/>
        </p:nvGrpSpPr>
        <p:grpSpPr>
          <a:xfrm>
            <a:off x="871560" y="203040"/>
            <a:ext cx="10449000" cy="262800"/>
            <a:chOff x="871560" y="203040"/>
            <a:chExt cx="10449000" cy="262800"/>
          </a:xfrm>
        </p:grpSpPr>
        <p:cxnSp>
          <p:nvCxnSpPr>
            <p:cNvPr id="259" name="Connecteur droit 12"/>
            <p:cNvCxnSpPr/>
            <p:nvPr/>
          </p:nvCxnSpPr>
          <p:spPr>
            <a:xfrm>
              <a:off x="871560" y="334800"/>
              <a:ext cx="151920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260" name="Connecteur droit 13"/>
            <p:cNvCxnSpPr/>
            <p:nvPr/>
          </p:nvCxnSpPr>
          <p:spPr>
            <a:xfrm>
              <a:off x="2390040" y="336240"/>
              <a:ext cx="151884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261" name="Connecteur droit 14"/>
            <p:cNvCxnSpPr/>
            <p:nvPr/>
          </p:nvCxnSpPr>
          <p:spPr>
            <a:xfrm>
              <a:off x="3899880" y="334800"/>
              <a:ext cx="371088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262" name="Connecteur droit 15"/>
            <p:cNvCxnSpPr/>
            <p:nvPr/>
          </p:nvCxnSpPr>
          <p:spPr>
            <a:xfrm>
              <a:off x="7610040" y="334800"/>
              <a:ext cx="371088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263" name="Ellipse 16"/>
            <p:cNvSpPr/>
            <p:nvPr/>
          </p:nvSpPr>
          <p:spPr>
            <a:xfrm>
              <a:off x="225828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264" name="Ellipse 17"/>
            <p:cNvSpPr/>
            <p:nvPr/>
          </p:nvSpPr>
          <p:spPr>
            <a:xfrm>
              <a:off x="3768480" y="203040"/>
              <a:ext cx="262800" cy="26280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265" name="Ellipse 18"/>
            <p:cNvSpPr/>
            <p:nvPr/>
          </p:nvSpPr>
          <p:spPr>
            <a:xfrm>
              <a:off x="747864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266" name="Rectangle 4"/>
          <p:cNvSpPr/>
          <p:nvPr/>
        </p:nvSpPr>
        <p:spPr>
          <a:xfrm>
            <a:off x="10890360" y="6419880"/>
            <a:ext cx="1300680" cy="23004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CF95D5-9E88-4341-88F0-B978E0F6CA8C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269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270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E6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Espace réservé de la date 3"/>
          <p:cNvSpPr/>
          <p:nvPr/>
        </p:nvSpPr>
        <p:spPr>
          <a:xfrm>
            <a:off x="1238760" y="6352560"/>
            <a:ext cx="2259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7" name="Espace réservé de la date 3"/>
          <p:cNvSpPr/>
          <p:nvPr/>
        </p:nvSpPr>
        <p:spPr>
          <a:xfrm>
            <a:off x="616680" y="6352560"/>
            <a:ext cx="2538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18" name="Groupe 11"/>
          <p:cNvGrpSpPr/>
          <p:nvPr/>
        </p:nvGrpSpPr>
        <p:grpSpPr>
          <a:xfrm>
            <a:off x="871560" y="203040"/>
            <a:ext cx="10449000" cy="262800"/>
            <a:chOff x="871560" y="203040"/>
            <a:chExt cx="10449000" cy="262800"/>
          </a:xfrm>
        </p:grpSpPr>
        <p:cxnSp>
          <p:nvCxnSpPr>
            <p:cNvPr id="319" name="Connecteur droit 12"/>
            <p:cNvCxnSpPr/>
            <p:nvPr/>
          </p:nvCxnSpPr>
          <p:spPr>
            <a:xfrm>
              <a:off x="871560" y="334800"/>
              <a:ext cx="151920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20" name="Connecteur droit 13"/>
            <p:cNvCxnSpPr/>
            <p:nvPr/>
          </p:nvCxnSpPr>
          <p:spPr>
            <a:xfrm>
              <a:off x="2390040" y="336240"/>
              <a:ext cx="151884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321" name="Connecteur droit 14"/>
            <p:cNvCxnSpPr/>
            <p:nvPr/>
          </p:nvCxnSpPr>
          <p:spPr>
            <a:xfrm>
              <a:off x="3899880" y="334800"/>
              <a:ext cx="371088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22" name="Connecteur droit 15"/>
            <p:cNvCxnSpPr/>
            <p:nvPr/>
          </p:nvCxnSpPr>
          <p:spPr>
            <a:xfrm>
              <a:off x="7610040" y="334800"/>
              <a:ext cx="371088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323" name="Ellipse 16"/>
            <p:cNvSpPr/>
            <p:nvPr/>
          </p:nvSpPr>
          <p:spPr>
            <a:xfrm>
              <a:off x="225828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24" name="Ellipse 17"/>
            <p:cNvSpPr/>
            <p:nvPr/>
          </p:nvSpPr>
          <p:spPr>
            <a:xfrm>
              <a:off x="3768480" y="203040"/>
              <a:ext cx="262800" cy="26280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25" name="Ellipse 18"/>
            <p:cNvSpPr/>
            <p:nvPr/>
          </p:nvSpPr>
          <p:spPr>
            <a:xfrm>
              <a:off x="747864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326" name="Rectangle 4"/>
          <p:cNvSpPr/>
          <p:nvPr/>
        </p:nvSpPr>
        <p:spPr>
          <a:xfrm>
            <a:off x="10890360" y="6419880"/>
            <a:ext cx="1300680" cy="23004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327" name="Flèche : pentagone 6"/>
          <p:cNvSpPr/>
          <p:nvPr/>
        </p:nvSpPr>
        <p:spPr>
          <a:xfrm>
            <a:off x="848880" y="1619280"/>
            <a:ext cx="10504080" cy="2808000"/>
          </a:xfrm>
          <a:prstGeom prst="homePlate">
            <a:avLst>
              <a:gd name="adj" fmla="val 50000"/>
            </a:avLst>
          </a:prstGeom>
          <a:noFill/>
          <a:ln w="38100">
            <a:solidFill>
              <a:srgbClr val="71D2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328" name="PlaceHolder 1"/>
          <p:cNvSpPr>
            <a:spLocks noGrp="1"/>
          </p:cNvSpPr>
          <p:nvPr>
            <p:ph type="sldNum" idx="4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26E7AF0-AF38-4259-AEF6-99818FEBCF21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dt" idx="4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330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331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E6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Espace réservé de la date 3"/>
          <p:cNvSpPr/>
          <p:nvPr/>
        </p:nvSpPr>
        <p:spPr>
          <a:xfrm>
            <a:off x="1238760" y="6352560"/>
            <a:ext cx="2259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3" name="Espace réservé de la date 3"/>
          <p:cNvSpPr/>
          <p:nvPr/>
        </p:nvSpPr>
        <p:spPr>
          <a:xfrm>
            <a:off x="616680" y="6352560"/>
            <a:ext cx="2538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34" name="Groupe 11"/>
          <p:cNvGrpSpPr/>
          <p:nvPr/>
        </p:nvGrpSpPr>
        <p:grpSpPr>
          <a:xfrm>
            <a:off x="871560" y="203040"/>
            <a:ext cx="10449000" cy="262800"/>
            <a:chOff x="871560" y="203040"/>
            <a:chExt cx="10449000" cy="262800"/>
          </a:xfrm>
        </p:grpSpPr>
        <p:cxnSp>
          <p:nvCxnSpPr>
            <p:cNvPr id="335" name="Connecteur droit 12"/>
            <p:cNvCxnSpPr/>
            <p:nvPr/>
          </p:nvCxnSpPr>
          <p:spPr>
            <a:xfrm>
              <a:off x="871560" y="334800"/>
              <a:ext cx="151920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36" name="Connecteur droit 13"/>
            <p:cNvCxnSpPr/>
            <p:nvPr/>
          </p:nvCxnSpPr>
          <p:spPr>
            <a:xfrm>
              <a:off x="2390040" y="336240"/>
              <a:ext cx="151884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337" name="Connecteur droit 14"/>
            <p:cNvCxnSpPr/>
            <p:nvPr/>
          </p:nvCxnSpPr>
          <p:spPr>
            <a:xfrm>
              <a:off x="3899880" y="334800"/>
              <a:ext cx="371088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38" name="Connecteur droit 15"/>
            <p:cNvCxnSpPr/>
            <p:nvPr/>
          </p:nvCxnSpPr>
          <p:spPr>
            <a:xfrm>
              <a:off x="7610040" y="334800"/>
              <a:ext cx="371088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339" name="Ellipse 16"/>
            <p:cNvSpPr/>
            <p:nvPr/>
          </p:nvSpPr>
          <p:spPr>
            <a:xfrm>
              <a:off x="225828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40" name="Ellipse 17"/>
            <p:cNvSpPr/>
            <p:nvPr/>
          </p:nvSpPr>
          <p:spPr>
            <a:xfrm>
              <a:off x="3768480" y="203040"/>
              <a:ext cx="262800" cy="26280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41" name="Ellipse 18"/>
            <p:cNvSpPr/>
            <p:nvPr/>
          </p:nvSpPr>
          <p:spPr>
            <a:xfrm>
              <a:off x="747864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342" name="Rectangle 4"/>
          <p:cNvSpPr/>
          <p:nvPr/>
        </p:nvSpPr>
        <p:spPr>
          <a:xfrm>
            <a:off x="10890360" y="6419880"/>
            <a:ext cx="1300680" cy="23004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343" name="Flèche : pentagone 6"/>
          <p:cNvSpPr/>
          <p:nvPr/>
        </p:nvSpPr>
        <p:spPr>
          <a:xfrm>
            <a:off x="848880" y="1619280"/>
            <a:ext cx="10504080" cy="2808000"/>
          </a:xfrm>
          <a:prstGeom prst="homePlate">
            <a:avLst>
              <a:gd name="adj" fmla="val 50000"/>
            </a:avLst>
          </a:prstGeom>
          <a:noFill/>
          <a:ln w="38100">
            <a:solidFill>
              <a:srgbClr val="71D2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344" name="PlaceHolder 1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A5AEFEC-58D0-4634-BDB3-70365D4F8E7B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346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347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Espace réservé de la date 3"/>
          <p:cNvSpPr/>
          <p:nvPr/>
        </p:nvSpPr>
        <p:spPr>
          <a:xfrm>
            <a:off x="1238760" y="6352560"/>
            <a:ext cx="2259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9" name="Espace réservé de la date 3"/>
          <p:cNvSpPr/>
          <p:nvPr/>
        </p:nvSpPr>
        <p:spPr>
          <a:xfrm>
            <a:off x="616680" y="6352560"/>
            <a:ext cx="2538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50" name="Groupe 11"/>
          <p:cNvGrpSpPr/>
          <p:nvPr/>
        </p:nvGrpSpPr>
        <p:grpSpPr>
          <a:xfrm>
            <a:off x="871560" y="203040"/>
            <a:ext cx="10449000" cy="262800"/>
            <a:chOff x="871560" y="203040"/>
            <a:chExt cx="10449000" cy="262800"/>
          </a:xfrm>
        </p:grpSpPr>
        <p:cxnSp>
          <p:nvCxnSpPr>
            <p:cNvPr id="351" name="Connecteur droit 12"/>
            <p:cNvCxnSpPr/>
            <p:nvPr/>
          </p:nvCxnSpPr>
          <p:spPr>
            <a:xfrm>
              <a:off x="871560" y="334800"/>
              <a:ext cx="151920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52" name="Connecteur droit 13"/>
            <p:cNvCxnSpPr/>
            <p:nvPr/>
          </p:nvCxnSpPr>
          <p:spPr>
            <a:xfrm>
              <a:off x="2390040" y="336240"/>
              <a:ext cx="151884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353" name="Connecteur droit 14"/>
            <p:cNvCxnSpPr/>
            <p:nvPr/>
          </p:nvCxnSpPr>
          <p:spPr>
            <a:xfrm>
              <a:off x="3899880" y="334800"/>
              <a:ext cx="371088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54" name="Connecteur droit 15"/>
            <p:cNvCxnSpPr/>
            <p:nvPr/>
          </p:nvCxnSpPr>
          <p:spPr>
            <a:xfrm>
              <a:off x="7610040" y="334800"/>
              <a:ext cx="371088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355" name="Ellipse 16"/>
            <p:cNvSpPr/>
            <p:nvPr/>
          </p:nvSpPr>
          <p:spPr>
            <a:xfrm>
              <a:off x="225828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56" name="Ellipse 17"/>
            <p:cNvSpPr/>
            <p:nvPr/>
          </p:nvSpPr>
          <p:spPr>
            <a:xfrm>
              <a:off x="3768480" y="203040"/>
              <a:ext cx="262800" cy="26280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57" name="Ellipse 18"/>
            <p:cNvSpPr/>
            <p:nvPr/>
          </p:nvSpPr>
          <p:spPr>
            <a:xfrm>
              <a:off x="747864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358" name="Rectangle 4"/>
          <p:cNvSpPr/>
          <p:nvPr/>
        </p:nvSpPr>
        <p:spPr>
          <a:xfrm>
            <a:off x="10890360" y="6419880"/>
            <a:ext cx="1300680" cy="23004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DB5A3E-5E34-41F5-BDD9-C064D0DF2939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36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362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Espace réservé de la date 3"/>
          <p:cNvSpPr/>
          <p:nvPr/>
        </p:nvSpPr>
        <p:spPr>
          <a:xfrm>
            <a:off x="1238760" y="6352560"/>
            <a:ext cx="2259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4" name="Espace réservé de la date 3"/>
          <p:cNvSpPr/>
          <p:nvPr/>
        </p:nvSpPr>
        <p:spPr>
          <a:xfrm>
            <a:off x="616680" y="6352560"/>
            <a:ext cx="2538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65" name="Groupe 11"/>
          <p:cNvGrpSpPr/>
          <p:nvPr/>
        </p:nvGrpSpPr>
        <p:grpSpPr>
          <a:xfrm>
            <a:off x="871560" y="203040"/>
            <a:ext cx="10449000" cy="262800"/>
            <a:chOff x="871560" y="203040"/>
            <a:chExt cx="10449000" cy="262800"/>
          </a:xfrm>
        </p:grpSpPr>
        <p:cxnSp>
          <p:nvCxnSpPr>
            <p:cNvPr id="366" name="Connecteur droit 12"/>
            <p:cNvCxnSpPr/>
            <p:nvPr/>
          </p:nvCxnSpPr>
          <p:spPr>
            <a:xfrm>
              <a:off x="871560" y="334800"/>
              <a:ext cx="151920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67" name="Connecteur droit 13"/>
            <p:cNvCxnSpPr/>
            <p:nvPr/>
          </p:nvCxnSpPr>
          <p:spPr>
            <a:xfrm>
              <a:off x="2390040" y="336240"/>
              <a:ext cx="151884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368" name="Connecteur droit 14"/>
            <p:cNvCxnSpPr/>
            <p:nvPr/>
          </p:nvCxnSpPr>
          <p:spPr>
            <a:xfrm>
              <a:off x="3899880" y="334800"/>
              <a:ext cx="371088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69" name="Connecteur droit 15"/>
            <p:cNvCxnSpPr/>
            <p:nvPr/>
          </p:nvCxnSpPr>
          <p:spPr>
            <a:xfrm>
              <a:off x="7610040" y="334800"/>
              <a:ext cx="371088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370" name="Ellipse 16"/>
            <p:cNvSpPr/>
            <p:nvPr/>
          </p:nvSpPr>
          <p:spPr>
            <a:xfrm>
              <a:off x="225828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71" name="Ellipse 17"/>
            <p:cNvSpPr/>
            <p:nvPr/>
          </p:nvSpPr>
          <p:spPr>
            <a:xfrm>
              <a:off x="3768480" y="203040"/>
              <a:ext cx="262800" cy="26280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72" name="Ellipse 18"/>
            <p:cNvSpPr/>
            <p:nvPr/>
          </p:nvSpPr>
          <p:spPr>
            <a:xfrm>
              <a:off x="747864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373" name="Rectangle 4"/>
          <p:cNvSpPr/>
          <p:nvPr/>
        </p:nvSpPr>
        <p:spPr>
          <a:xfrm>
            <a:off x="10890360" y="6419880"/>
            <a:ext cx="1300680" cy="23004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374" name="PlaceHolder 1"/>
          <p:cNvSpPr>
            <a:spLocks noGrp="1"/>
          </p:cNvSpPr>
          <p:nvPr>
            <p:ph type="sldNum" idx="4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79D4E8-6078-4773-A2BF-4C6A03E2FC9C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dt" idx="4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376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377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Espace réservé de la date 3"/>
          <p:cNvSpPr/>
          <p:nvPr/>
        </p:nvSpPr>
        <p:spPr>
          <a:xfrm>
            <a:off x="1238760" y="6352560"/>
            <a:ext cx="2259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9" name="Espace réservé de la date 3"/>
          <p:cNvSpPr/>
          <p:nvPr/>
        </p:nvSpPr>
        <p:spPr>
          <a:xfrm>
            <a:off x="616680" y="6352560"/>
            <a:ext cx="2538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80" name="Groupe 11"/>
          <p:cNvGrpSpPr/>
          <p:nvPr/>
        </p:nvGrpSpPr>
        <p:grpSpPr>
          <a:xfrm>
            <a:off x="871560" y="203040"/>
            <a:ext cx="10449000" cy="262800"/>
            <a:chOff x="871560" y="203040"/>
            <a:chExt cx="10449000" cy="262800"/>
          </a:xfrm>
        </p:grpSpPr>
        <p:cxnSp>
          <p:nvCxnSpPr>
            <p:cNvPr id="381" name="Connecteur droit 12"/>
            <p:cNvCxnSpPr/>
            <p:nvPr/>
          </p:nvCxnSpPr>
          <p:spPr>
            <a:xfrm>
              <a:off x="871560" y="334800"/>
              <a:ext cx="151920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82" name="Connecteur droit 13"/>
            <p:cNvCxnSpPr/>
            <p:nvPr/>
          </p:nvCxnSpPr>
          <p:spPr>
            <a:xfrm>
              <a:off x="2390040" y="336240"/>
              <a:ext cx="151884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383" name="Connecteur droit 14"/>
            <p:cNvCxnSpPr/>
            <p:nvPr/>
          </p:nvCxnSpPr>
          <p:spPr>
            <a:xfrm>
              <a:off x="3899880" y="334800"/>
              <a:ext cx="371088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84" name="Connecteur droit 15"/>
            <p:cNvCxnSpPr/>
            <p:nvPr/>
          </p:nvCxnSpPr>
          <p:spPr>
            <a:xfrm>
              <a:off x="7610040" y="334800"/>
              <a:ext cx="371088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385" name="Ellipse 16"/>
            <p:cNvSpPr/>
            <p:nvPr/>
          </p:nvSpPr>
          <p:spPr>
            <a:xfrm>
              <a:off x="225828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86" name="Ellipse 17"/>
            <p:cNvSpPr/>
            <p:nvPr/>
          </p:nvSpPr>
          <p:spPr>
            <a:xfrm>
              <a:off x="3768480" y="203040"/>
              <a:ext cx="262800" cy="26280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387" name="Ellipse 18"/>
            <p:cNvSpPr/>
            <p:nvPr/>
          </p:nvSpPr>
          <p:spPr>
            <a:xfrm>
              <a:off x="747864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388" name="Rectangle 4"/>
          <p:cNvSpPr/>
          <p:nvPr/>
        </p:nvSpPr>
        <p:spPr>
          <a:xfrm>
            <a:off x="10890360" y="6419880"/>
            <a:ext cx="1300680" cy="23004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389" name="PlaceHolder 1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044137A-1070-4B37-85B0-A10F473492EE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391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392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E6">
            <a:alpha val="3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Espace réservé de la date 3"/>
          <p:cNvSpPr/>
          <p:nvPr/>
        </p:nvSpPr>
        <p:spPr>
          <a:xfrm>
            <a:off x="1238760" y="6352560"/>
            <a:ext cx="225936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Caplogy. All rights reserved.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4" name="Espace réservé de la date 3"/>
          <p:cNvSpPr/>
          <p:nvPr/>
        </p:nvSpPr>
        <p:spPr>
          <a:xfrm>
            <a:off x="616680" y="6352560"/>
            <a:ext cx="253800" cy="36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©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95" name="Groupe 11"/>
          <p:cNvGrpSpPr/>
          <p:nvPr/>
        </p:nvGrpSpPr>
        <p:grpSpPr>
          <a:xfrm>
            <a:off x="871560" y="203040"/>
            <a:ext cx="10449000" cy="262800"/>
            <a:chOff x="871560" y="203040"/>
            <a:chExt cx="10449000" cy="262800"/>
          </a:xfrm>
        </p:grpSpPr>
        <p:cxnSp>
          <p:nvCxnSpPr>
            <p:cNvPr id="396" name="Connecteur droit 12"/>
            <p:cNvCxnSpPr/>
            <p:nvPr/>
          </p:nvCxnSpPr>
          <p:spPr>
            <a:xfrm>
              <a:off x="871560" y="334800"/>
              <a:ext cx="151920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97" name="Connecteur droit 13"/>
            <p:cNvCxnSpPr/>
            <p:nvPr/>
          </p:nvCxnSpPr>
          <p:spPr>
            <a:xfrm>
              <a:off x="2390040" y="336240"/>
              <a:ext cx="151884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cxnSp>
          <p:nvCxnSpPr>
            <p:cNvPr id="398" name="Connecteur droit 14"/>
            <p:cNvCxnSpPr/>
            <p:nvPr/>
          </p:nvCxnSpPr>
          <p:spPr>
            <a:xfrm>
              <a:off x="3899880" y="334800"/>
              <a:ext cx="3710880" cy="720"/>
            </a:xfrm>
            <a:prstGeom prst="straightConnector1">
              <a:avLst/>
            </a:prstGeom>
            <a:ln w="127000">
              <a:solidFill>
                <a:srgbClr val="71D2E3"/>
              </a:solidFill>
              <a:round/>
            </a:ln>
          </p:spPr>
        </p:cxnSp>
        <p:cxnSp>
          <p:nvCxnSpPr>
            <p:cNvPr id="399" name="Connecteur droit 15"/>
            <p:cNvCxnSpPr/>
            <p:nvPr/>
          </p:nvCxnSpPr>
          <p:spPr>
            <a:xfrm>
              <a:off x="7610040" y="334800"/>
              <a:ext cx="3710880" cy="720"/>
            </a:xfrm>
            <a:prstGeom prst="straightConnector1">
              <a:avLst/>
            </a:prstGeom>
            <a:ln w="127000">
              <a:solidFill>
                <a:srgbClr val="5B5B79"/>
              </a:solidFill>
              <a:round/>
            </a:ln>
          </p:spPr>
        </p:cxnSp>
        <p:sp>
          <p:nvSpPr>
            <p:cNvPr id="400" name="Ellipse 16"/>
            <p:cNvSpPr/>
            <p:nvPr/>
          </p:nvSpPr>
          <p:spPr>
            <a:xfrm>
              <a:off x="225828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401" name="Ellipse 17"/>
            <p:cNvSpPr/>
            <p:nvPr/>
          </p:nvSpPr>
          <p:spPr>
            <a:xfrm>
              <a:off x="3768480" y="203040"/>
              <a:ext cx="262800" cy="262800"/>
            </a:xfrm>
            <a:prstGeom prst="ellipse">
              <a:avLst/>
            </a:prstGeom>
            <a:solidFill>
              <a:srgbClr val="71D2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  <p:sp>
          <p:nvSpPr>
            <p:cNvPr id="402" name="Ellipse 18"/>
            <p:cNvSpPr/>
            <p:nvPr/>
          </p:nvSpPr>
          <p:spPr>
            <a:xfrm>
              <a:off x="7478640" y="203040"/>
              <a:ext cx="262800" cy="262800"/>
            </a:xfrm>
            <a:prstGeom prst="ellipse">
              <a:avLst/>
            </a:prstGeom>
            <a:solidFill>
              <a:srgbClr val="5B5B7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fr-FR" sz="1800" b="0" u="none" strike="noStrike">
                <a:solidFill>
                  <a:schemeClr val="lt1"/>
                </a:solidFill>
                <a:uFillTx/>
                <a:latin typeface="Aptos"/>
              </a:endParaRPr>
            </a:p>
          </p:txBody>
        </p:sp>
      </p:grpSp>
      <p:sp>
        <p:nvSpPr>
          <p:cNvPr id="403" name="Rectangle 4"/>
          <p:cNvSpPr/>
          <p:nvPr/>
        </p:nvSpPr>
        <p:spPr>
          <a:xfrm>
            <a:off x="10890360" y="6419880"/>
            <a:ext cx="1300680" cy="230040"/>
          </a:xfrm>
          <a:prstGeom prst="rect">
            <a:avLst/>
          </a:prstGeom>
          <a:solidFill>
            <a:srgbClr val="71D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404" name="Flèche : pentagone 6"/>
          <p:cNvSpPr/>
          <p:nvPr/>
        </p:nvSpPr>
        <p:spPr>
          <a:xfrm>
            <a:off x="848880" y="1619280"/>
            <a:ext cx="10504080" cy="2808000"/>
          </a:xfrm>
          <a:prstGeom prst="homePlate">
            <a:avLst>
              <a:gd name="adj" fmla="val 50000"/>
            </a:avLst>
          </a:prstGeom>
          <a:noFill/>
          <a:ln w="38100">
            <a:solidFill>
              <a:srgbClr val="71D2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fr-FR" sz="1800" b="0" u="none" strike="noStrike">
              <a:solidFill>
                <a:schemeClr val="lt1"/>
              </a:solidFill>
              <a:uFillTx/>
              <a:latin typeface="Aptos"/>
            </a:endParaRPr>
          </a:p>
        </p:txBody>
      </p:sp>
      <p:sp>
        <p:nvSpPr>
          <p:cNvPr id="405" name="PlaceHolder 1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6B483E-239F-4D0C-A16D-A1CAC5BBBDD1}" type="slidenum"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‹N°›</a:t>
            </a:fld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&lt;date/heure&gt;</a:t>
            </a:r>
          </a:p>
        </p:txBody>
      </p:sp>
      <p:sp>
        <p:nvSpPr>
          <p:cNvPr id="40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texte-titre</a:t>
            </a:r>
          </a:p>
        </p:txBody>
      </p:sp>
      <p:sp>
        <p:nvSpPr>
          <p:cNvPr id="40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uFillTx/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uFillTx/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uFillTx/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microsoft.com/office/2018/10/relationships/comments" Target="../comments/modernComment_12A_0.xml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1523880" y="140256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fr-FR" sz="6000" b="1" u="none" strike="noStrike">
                <a:solidFill>
                  <a:srgbClr val="5B5B79"/>
                </a:solidFill>
                <a:uFillTx/>
                <a:latin typeface="Georgia"/>
              </a:rPr>
              <a:t>Ch. 2 : Modèles de service Cloud  </a:t>
            </a:r>
            <a:endParaRPr lang="fr-FR" sz="60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subTitle"/>
          </p:nvPr>
        </p:nvSpPr>
        <p:spPr>
          <a:xfrm>
            <a:off x="1523880" y="4150080"/>
            <a:ext cx="9143280" cy="59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600" b="0" i="1" u="none" strike="noStrike">
                <a:solidFill>
                  <a:srgbClr val="4A4A62"/>
                </a:solidFill>
                <a:uFillTx/>
                <a:latin typeface="Georgia"/>
                <a:ea typeface="Calibri"/>
              </a:rPr>
              <a:t>Nom de filière ou programme</a:t>
            </a:r>
            <a:endParaRPr lang="fr-FR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dt" idx="52"/>
          </p:nvPr>
        </p:nvSpPr>
        <p:spPr>
          <a:xfrm>
            <a:off x="838080" y="6352560"/>
            <a:ext cx="54504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2" name="PlaceHolder 4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3" name="PlaceHolder 5"/>
          <p:cNvSpPr>
            <a:spLocks noGrp="1"/>
          </p:cNvSpPr>
          <p:nvPr>
            <p:ph/>
          </p:nvPr>
        </p:nvSpPr>
        <p:spPr>
          <a:xfrm>
            <a:off x="1523880" y="4773600"/>
            <a:ext cx="9143280" cy="44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600" b="0" i="1" u="none" strike="noStrike">
                <a:solidFill>
                  <a:srgbClr val="4A4A62"/>
                </a:solidFill>
                <a:uFillTx/>
                <a:latin typeface="Georgia"/>
                <a:ea typeface="Calibri"/>
              </a:rPr>
              <a:t>Année (optionnel)</a:t>
            </a:r>
            <a:endParaRPr lang="fr-FR" sz="16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dt" idx="5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title"/>
          </p:nvPr>
        </p:nvSpPr>
        <p:spPr>
          <a:xfrm>
            <a:off x="838080" y="963720"/>
            <a:ext cx="3931560" cy="120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Objectifs du cours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/>
          </p:nvPr>
        </p:nvSpPr>
        <p:spPr>
          <a:xfrm>
            <a:off x="836640" y="2405160"/>
            <a:ext cx="8117640" cy="369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5A7BD"/>
              </a:buClr>
              <a:buFont typeface="Wingdings" charset="2"/>
              <a:buChar char=""/>
            </a:pPr>
            <a:r>
              <a:rPr lang="fr-FR" sz="2400" b="0" u="none" strike="noStrike">
                <a:solidFill>
                  <a:schemeClr val="dk1"/>
                </a:solidFill>
                <a:uFillTx/>
                <a:latin typeface="Calibri"/>
                <a:ea typeface="Calibri"/>
              </a:rPr>
              <a:t>Concepts des modèles de services,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5A7BD"/>
              </a:buClr>
              <a:buFont typeface="Wingdings" charset="2"/>
              <a:buChar char=""/>
            </a:pPr>
            <a:r>
              <a:rPr lang="fr-FR" sz="2400" b="0" u="none" strike="noStrike">
                <a:solidFill>
                  <a:schemeClr val="dk1"/>
                </a:solidFill>
                <a:uFillTx/>
                <a:latin typeface="Calibri"/>
                <a:ea typeface="Calibri"/>
              </a:rPr>
              <a:t>IaaS (Infrastructure As A Service),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5A7BD"/>
              </a:buClr>
              <a:buFont typeface="Wingdings" charset="2"/>
              <a:buChar char=""/>
            </a:pPr>
            <a:r>
              <a:rPr lang="fr-FR" sz="2400" b="0" u="none" strike="noStrike">
                <a:solidFill>
                  <a:schemeClr val="dk1"/>
                </a:solidFill>
                <a:uFillTx/>
                <a:latin typeface="Calibri"/>
                <a:ea typeface="Calibri"/>
              </a:rPr>
              <a:t>PaaS (Platform as a Service),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25A7BD"/>
              </a:buClr>
              <a:buFont typeface="Wingdings" charset="2"/>
              <a:buChar char=""/>
            </a:pPr>
            <a:r>
              <a:rPr lang="fr-FR" sz="2400" b="0" u="none" strike="noStrike">
                <a:solidFill>
                  <a:schemeClr val="dk1"/>
                </a:solidFill>
                <a:uFillTx/>
                <a:latin typeface="Calibri"/>
                <a:ea typeface="Calibri"/>
              </a:rPr>
              <a:t>SaaS (Software as a Service).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7" name="PlaceHolder 4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18" name="object 27"/>
          <p:cNvGrpSpPr/>
          <p:nvPr/>
        </p:nvGrpSpPr>
        <p:grpSpPr>
          <a:xfrm>
            <a:off x="6120000" y="776880"/>
            <a:ext cx="5940000" cy="3903120"/>
            <a:chOff x="6120000" y="776880"/>
            <a:chExt cx="5940000" cy="3903120"/>
          </a:xfrm>
        </p:grpSpPr>
        <p:sp>
          <p:nvSpPr>
            <p:cNvPr id="419" name="object 28"/>
            <p:cNvSpPr/>
            <p:nvPr/>
          </p:nvSpPr>
          <p:spPr>
            <a:xfrm>
              <a:off x="6781320" y="827640"/>
              <a:ext cx="5241240" cy="3222720"/>
            </a:xfrm>
            <a:custGeom>
              <a:avLst/>
              <a:gdLst>
                <a:gd name="textAreaLeft" fmla="*/ 0 w 5241240"/>
                <a:gd name="textAreaRight" fmla="*/ 5241600 w 5241240"/>
                <a:gd name="textAreaTop" fmla="*/ 0 h 3222720"/>
                <a:gd name="textAreaBottom" fmla="*/ 3223080 h 3222720"/>
              </a:gdLst>
              <a:ahLst/>
              <a:cxnLst/>
              <a:rect l="textAreaLeft" t="textAreaTop" r="textAreaRight" b="textAreaBottom"/>
              <a:pathLst>
                <a:path w="5979159" h="3736975">
                  <a:moveTo>
                    <a:pt x="0" y="3736848"/>
                  </a:moveTo>
                  <a:lnTo>
                    <a:pt x="5978651" y="3736848"/>
                  </a:lnTo>
                  <a:lnTo>
                    <a:pt x="5978651" y="0"/>
                  </a:lnTo>
                  <a:lnTo>
                    <a:pt x="0" y="0"/>
                  </a:lnTo>
                  <a:lnTo>
                    <a:pt x="0" y="3736848"/>
                  </a:lnTo>
                  <a:close/>
                </a:path>
                <a:path w="5979159" h="3736975">
                  <a:moveTo>
                    <a:pt x="0" y="3736848"/>
                  </a:moveTo>
                  <a:lnTo>
                    <a:pt x="5978651" y="3736848"/>
                  </a:lnTo>
                  <a:lnTo>
                    <a:pt x="5978651" y="0"/>
                  </a:lnTo>
                  <a:lnTo>
                    <a:pt x="0" y="0"/>
                  </a:lnTo>
                  <a:lnTo>
                    <a:pt x="0" y="3736848"/>
                  </a:lnTo>
                  <a:close/>
                </a:path>
              </a:pathLst>
            </a:custGeom>
            <a:noFill/>
            <a:ln w="126492">
              <a:solidFill>
                <a:srgbClr val="FFC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20" name="object 29"/>
            <p:cNvSpPr/>
            <p:nvPr/>
          </p:nvSpPr>
          <p:spPr>
            <a:xfrm>
              <a:off x="6120000" y="1457280"/>
              <a:ext cx="5241960" cy="3222720"/>
            </a:xfrm>
            <a:custGeom>
              <a:avLst/>
              <a:gdLst>
                <a:gd name="textAreaLeft" fmla="*/ 0 w 5241960"/>
                <a:gd name="textAreaRight" fmla="*/ 5242320 w 5241960"/>
                <a:gd name="textAreaTop" fmla="*/ 0 h 3222720"/>
                <a:gd name="textAreaBottom" fmla="*/ 3223080 h 3222720"/>
              </a:gdLst>
              <a:ahLst/>
              <a:cxnLst/>
              <a:rect l="textAreaLeft" t="textAreaTop" r="textAreaRight" b="textAreaBottom"/>
              <a:pathLst>
                <a:path w="5980430" h="3736975">
                  <a:moveTo>
                    <a:pt x="0" y="3736848"/>
                  </a:moveTo>
                  <a:lnTo>
                    <a:pt x="5980175" y="3736848"/>
                  </a:lnTo>
                  <a:lnTo>
                    <a:pt x="5980175" y="0"/>
                  </a:lnTo>
                  <a:lnTo>
                    <a:pt x="0" y="0"/>
                  </a:lnTo>
                  <a:lnTo>
                    <a:pt x="0" y="3736848"/>
                  </a:lnTo>
                  <a:close/>
                </a:path>
              </a:pathLst>
            </a:custGeom>
            <a:noFill/>
            <a:ln w="126492">
              <a:solidFill>
                <a:srgbClr val="FFC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fr-FR" sz="18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pic>
          <p:nvPicPr>
            <p:cNvPr id="421" name="object 30"/>
            <p:cNvPicPr/>
            <p:nvPr/>
          </p:nvPicPr>
          <p:blipFill>
            <a:blip r:embed="rId2"/>
            <a:stretch/>
          </p:blipFill>
          <p:spPr>
            <a:xfrm>
              <a:off x="6174360" y="776880"/>
              <a:ext cx="5885640" cy="38548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CA9D8F7E-C645-40A2-A49C-58F5681C8224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title"/>
          </p:nvPr>
        </p:nvSpPr>
        <p:spPr>
          <a:xfrm>
            <a:off x="831960" y="1711080"/>
            <a:ext cx="10533600" cy="294372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800" b="0" u="none" strike="noStrike">
                <a:solidFill>
                  <a:srgbClr val="44445A"/>
                </a:solidFill>
                <a:uFillTx/>
                <a:latin typeface="Georgia"/>
              </a:rPr>
              <a:t>Modèles de Services Cloud</a:t>
            </a:r>
            <a:endParaRPr lang="fr-FR" sz="4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CA587D0D-2E35-4A4C-9CCE-37148714B984}" type="slidenum">
              <a:r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Modèles de Services Cloud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/>
          </p:nvPr>
        </p:nvSpPr>
        <p:spPr>
          <a:xfrm>
            <a:off x="900000" y="176904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Le Cloud </a:t>
            </a:r>
            <a:r>
              <a:rPr lang="fr-FR" sz="2400" b="0" u="none" strike="noStrike" dirty="0" err="1">
                <a:solidFill>
                  <a:srgbClr val="000000"/>
                </a:solidFill>
                <a:uFillTx/>
                <a:latin typeface="Calibri"/>
                <a:ea typeface="Calibri"/>
              </a:rPr>
              <a:t>Computing</a:t>
            </a: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 se repose sur 3 modèles fondamentaux : IaaS, PaaS et SaaS.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Le degré d’externalisation est variable.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Les concepts de IaaS (Infrastructure as a Service), PaaS (</a:t>
            </a:r>
            <a:r>
              <a:rPr lang="fr-FR" sz="2400" b="0" u="none" strike="noStrike" dirty="0" err="1">
                <a:solidFill>
                  <a:srgbClr val="000000"/>
                </a:solidFill>
                <a:uFillTx/>
                <a:latin typeface="Calibri"/>
                <a:ea typeface="Calibri"/>
              </a:rPr>
              <a:t>Plateform</a:t>
            </a: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 as </a:t>
            </a:r>
            <a:r>
              <a:rPr lang="fr-FR" sz="2400" b="0" u="none" strike="noStrike" dirty="0" err="1">
                <a:solidFill>
                  <a:srgbClr val="000000"/>
                </a:solidFill>
                <a:uFillTx/>
                <a:latin typeface="Calibri"/>
                <a:ea typeface="Calibri"/>
              </a:rPr>
              <a:t>aService</a:t>
            </a: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) et SaaS (Software as </a:t>
            </a:r>
            <a:r>
              <a:rPr lang="fr-FR" sz="2400" b="0" u="none" strike="noStrike" dirty="0" err="1">
                <a:solidFill>
                  <a:srgbClr val="000000"/>
                </a:solidFill>
                <a:uFillTx/>
                <a:latin typeface="Calibri"/>
                <a:ea typeface="Calibri"/>
              </a:rPr>
              <a:t>aService</a:t>
            </a: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) indiquent ce degré.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8" name="PlaceHolder 4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54614304-59EA-4128-9D65-C1FED1D8A7E4}" type="slidenum">
              <a:rPr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Schématisation des concepts de IaaS, PaaS, SaaS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dt" idx="5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32" name="object 31"/>
          <p:cNvPicPr/>
          <p:nvPr/>
        </p:nvPicPr>
        <p:blipFill>
          <a:blip r:embed="rId2"/>
          <a:stretch/>
        </p:blipFill>
        <p:spPr>
          <a:xfrm>
            <a:off x="1260000" y="1348560"/>
            <a:ext cx="8820000" cy="477144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42E50CEF-2911-4769-BE8A-38E8E5FE18F8}" type="slidenum">
              <a:r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title"/>
          </p:nvPr>
        </p:nvSpPr>
        <p:spPr>
          <a:xfrm>
            <a:off x="831960" y="1711080"/>
            <a:ext cx="10533600" cy="294372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800" b="0" u="none" strike="noStrike">
                <a:solidFill>
                  <a:srgbClr val="44445A"/>
                </a:solidFill>
                <a:uFillTx/>
                <a:latin typeface="Georgia"/>
              </a:rPr>
              <a:t>IaaS</a:t>
            </a:r>
            <a:endParaRPr lang="fr-FR" sz="4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lstStyle/>
          <a:p>
            <a:fld id="{D50EE31C-49EA-4543-84B9-5A02CF159465}" type="slidenum">
              <a:r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 : Définition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 type="dt" idx="5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9" name="PlaceHolder 15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IaaS (Infrastructure as aService) est un service Cloud, où les clients peuvent accéder à une infrastructure informatique immédiatement utilisable et très évolutive via Internet.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stockage, l’administration et la maintenance du matériel relèvent entièrement de la responsabilité du fournisseur.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modèle typique de facturation des coûts pour les offres IaaS est la méthode de paiement à l’utilisation, avec laquelle les clients ne paient que pour ce qu’ils ont réellement utilisé.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00F8E5E4-7ADA-4501-AE9D-85F6B6DC0BA2}" type="slidenum">
              <a:r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 : fonctionnement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dt" idx="5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3" name="PlaceHolder 19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Infrastructure as a Service fonctionne selon le principe de </a:t>
            </a: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responsabilité partagée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fournisseur IaaS est responsable de la structure, du fonctionnement et de la sécurité du matériel.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on appelle aussi l’</a:t>
            </a: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environnement physique</a:t>
            </a: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, que le fournisseur doit préparer de manière à ce qu’il soit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disponible pour les utilisateurs à tout moment.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E53ABC14-570E-42BC-8DE6-F88BB78603E3}" type="slidenum">
              <a:rPr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 : fonctionnement / fournisseur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7" name="PlaceHolder 23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Parmi les </a:t>
            </a: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responsabilités décisives</a:t>
            </a: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 de fournisseur IaaS, on compte :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Mise en place, maintenance et modernisation régulière de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l’infrastructure du centre de données</a:t>
            </a: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Protection du centre de données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contre les influences extérieures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Mise à disposition de </a:t>
            </a: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la puissance de calcul</a:t>
            </a: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 (CPU, mémoire de travail) et de l’espace de stockage.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A97C1076-0073-4EB3-9668-4A3E188F6AA8}" type="slidenum">
              <a:r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 : fonctionnement / fournisseur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1" name="PlaceHolder 27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Mise à disposition de </a:t>
            </a:r>
            <a:r>
              <a:rPr lang="fr-FR" sz="2400" b="1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structures de serveurs et de réseaux</a:t>
            </a: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 ainsi que de bases de données.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Création d’un </a:t>
            </a:r>
            <a:r>
              <a:rPr lang="fr-FR" sz="2400" b="1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environnement de virtualisation</a:t>
            </a: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 que les clients peuvent utiliser pour accéder aux ressources IaaS proposées.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Fourniture d’un </a:t>
            </a:r>
            <a:r>
              <a:rPr lang="fr-FR" sz="2400" b="1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logiciel</a:t>
            </a: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 qui permet aux clients de contrôler et</a:t>
            </a:r>
            <a:r>
              <a:rPr lang="fr-FR" sz="2400" dirty="0">
                <a:solidFill>
                  <a:srgbClr val="000000"/>
                </a:solidFill>
                <a:latin typeface="Arial"/>
              </a:rPr>
              <a:t> </a:t>
            </a: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d’administrer l’infrastructure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informatique virtualisée.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BA8BB2B7-A5C8-4424-A25F-F2AB51E06FF1}" type="slidenum">
              <a:rPr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 : fonctionnement / Client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 type="dt" idx="6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5" name="PlaceHolder 31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Les tâches à accomplir par le client peuvent être :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La sélection et </a:t>
            </a:r>
            <a:r>
              <a:rPr lang="fr-FR" sz="2400" b="1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structuration</a:t>
            </a: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 de :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l’infrastructure virtuelle souhaitée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L’installation, configuration et mises à jour régulières des </a:t>
            </a:r>
            <a:r>
              <a:rPr lang="fr-FR" sz="2400" b="1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systèmes d’exploitation</a:t>
            </a: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 et de tout logiciel d’application requis pour vos propres besoins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L’administration du </a:t>
            </a:r>
            <a:r>
              <a:rPr lang="fr-FR" sz="2400" b="1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réseau</a:t>
            </a: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 IaaS et configuration des pare-feu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983E282A-778B-4C57-B169-C02A278264D1}" type="slidenum">
              <a:rPr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 : fonctionnement / Client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9" name="PlaceHolder 35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La protection des systèmes d’exploitation et de tout autre logiciel installé (s’applique également aux propres applications, bien sûr) par un </a:t>
            </a: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logiciel de sécurité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</a:t>
            </a: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chiffrement</a:t>
            </a: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 des données et des connexions de données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La mise en place de </a:t>
            </a: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mécanismes d’authentification, de contrôle d’identité et d’accès</a:t>
            </a: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67607E03-C4F4-4CAE-BB92-03966A6FBA71}" type="slidenum">
              <a:rPr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 : différents types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dt" idx="6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3" name="PlaceHolder 39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il existe trois différents types de solutions IaaS :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IaaS publique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IaaS privée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IaaS hybride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8E8609BD-6ECD-494F-BD64-097942DFB59C}" type="slidenum">
              <a:rPr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 : Publique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dt" idx="6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7" name="PlaceHolder 43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Une IaaS publique est la </a:t>
            </a: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version de base du service cloud</a:t>
            </a: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terme public vient du fait que les ressources offertes sont généralement partagées par tous les clients du fournisseur, et accessibles via Internet.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partage de matériel entraîne des conflits, car toutes les ressources sont virtualisées et donc détachées d’un ordinateur spécifique.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8D9A3F6D-8B7B-43D7-9F46-E8B2C9BE8118}" type="slidenum">
              <a:rPr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 : Privée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1" name="PlaceHolder 47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concept d’IaaS privée diffère de l’idée même d’Infrastructure as a Service, dans la mesure où il ne s’agit pas d’un prestataire de services externes, mais d’un service informatique interne qui assure la mise à disposition et la location des ressources.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De cette façon, l’entreprise bénéficie des possibilités de la technologie IaaS sans perdre le contrôle des données et de la sécurité.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0841D918-67FD-42EB-911B-16BDA8957817}" type="slidenum">
              <a:rPr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 : Hybride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3" name="PlaceHolder 2"/>
          <p:cNvSpPr>
            <a:spLocks noGrp="1"/>
          </p:cNvSpPr>
          <p:nvPr>
            <p:ph type="dt" idx="6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5" name="PlaceHolder 51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L’IaaS hybride est une solution qui combine les IaaS publiques et privées.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Avec cette solution, les ressources sont obtenues à la fois grâce à un fournisseur de services interne et à un fournisseur externe.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Ceci vous permet de gérer vous-même les données sensibles de l’entreprise, tandis que les ressources externes évolutives sont utilisées à d’autres fins.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22F5FDE2-C382-4210-AFC0-91CFF9937617}" type="slidenum">
              <a:rPr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 : Contextes Professionnels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7" name="PlaceHolder 2"/>
          <p:cNvSpPr>
            <a:spLocks noGrp="1"/>
          </p:cNvSpPr>
          <p:nvPr>
            <p:ph type="dt" idx="6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9" name="PlaceHolder 55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Développement de programmes et test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Hébergement de sites Web complexes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Mise en place de solutions complexes de stockage et de sauvegarde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Déploiement d’applications Web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Hautes performances de calcul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Analyse du Big Data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E041A1F6-6097-4571-879E-290E908D16C0}" type="slidenum">
              <a:rPr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 : Avantages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3" name="PlaceHolder 59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✔ Pas de frais de matériel, bonne régulation des frais d’utilisation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✔ Mise en œuvre et mise à disposition rapide des nouveaux projets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✔ Haute flexibilité grâce à l’adaptabilité des ressources utilisées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✔ Pas d’installation, de maintenance et de modernisation du matériel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✔ Connexion facile de plusieurs sites de l’entreprise à l’environnement IaaS loué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D06E57D0-C667-42C2-B77D-05BAEA02134D}" type="slidenum">
              <a:rPr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 : Inconvénients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dt" idx="7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7" name="PlaceHolder 63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✘ Dépendance vis-à-vis du fournisseur, dont la seule responsabilité est la disponibilité et la sécurité du service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✘ L’accès à Internet est indispensable (les problèmes de connexion à Internet causent aussi des problèmes avec l’environnement IaaS).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✘ Changer de fournisseur est très compliqué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✘ Problèmes éventuels liés à la politique de confidentialité en raison de l’emplacement des serveurs du fournisseur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241C1737-363A-4E47-B278-6861D55EF06B}" type="slidenum">
              <a:rPr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 : Les acteurs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9" name="PlaceHolder 2"/>
          <p:cNvSpPr>
            <a:spLocks noGrp="1"/>
          </p:cNvSpPr>
          <p:nvPr>
            <p:ph type="dt" idx="7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1" name="PlaceHolder 67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plus important: Amazon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648000" lvl="2" indent="-216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S3 / Simple Storage Service: Utilisée par Dropbox, Ubuntu One, Second life...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648000" lvl="2" indent="-216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EC2 / Elastic Cloud Computer: Hébergement de machine virtuelle Windows, GNU/Linux et FreeBSD basée sur XEN. Utilisée par The Guardian, SNCF, Amazon, Bakinter... Wikileaks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Autres: OpSource, Windows Azur...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68492F2D-8226-4548-8DA7-9A58CB5E310A}" type="slidenum">
              <a:rPr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 : Les acteurs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95" name="object 32"/>
          <p:cNvPicPr/>
          <p:nvPr/>
        </p:nvPicPr>
        <p:blipFill>
          <a:blip r:embed="rId2"/>
          <a:stretch/>
        </p:blipFill>
        <p:spPr>
          <a:xfrm>
            <a:off x="462240" y="2208240"/>
            <a:ext cx="11467800" cy="40168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408AF015-06DD-439A-88AC-6F98CCA72115}" type="slidenum">
              <a:rPr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dt" idx="7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title"/>
          </p:nvPr>
        </p:nvSpPr>
        <p:spPr>
          <a:xfrm>
            <a:off x="831960" y="1711080"/>
            <a:ext cx="10533600" cy="294372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800" b="0" u="none" strike="noStrike">
                <a:solidFill>
                  <a:srgbClr val="44445A"/>
                </a:solidFill>
                <a:uFillTx/>
                <a:latin typeface="Georgia"/>
              </a:rPr>
              <a:t>PaaS</a:t>
            </a:r>
            <a:endParaRPr lang="fr-FR" sz="4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2"/>
          </p:nvPr>
        </p:nvSpPr>
        <p:spPr/>
        <p:txBody>
          <a:bodyPr/>
          <a:lstStyle/>
          <a:p>
            <a:fld id="{F388BBD1-D245-4A94-BDB7-D4BAF3579BF3}" type="slidenum">
              <a:rPr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PaaS : Définition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dt" idx="7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2" name="PlaceHolder 80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service plate-forme en tant que service (abréviation PaaS) permet aux clients de louer une plate-forme virtuelle sur laquelle ils peuvent développer, tester et déployer des applications Web pour les utilisateurs.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51334632-A406-4D8B-9AEA-C936462AD4E6}" type="slidenum">
              <a:rPr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PaaS : fonctionnement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6" name="PlaceHolder 84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Avec la plate-forme en tant que service, vous développez dans le fond votre produit comme vous le feriez dans un environnement de développement mis en place en interne.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Suite à la création du code, vous le transférez sur la plate-forme où il est déployé et exécuté dans un conteneur qui répond aux besoins en ressources.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Vous pouvez donc voir les changements immédiatement.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D0BE99CB-7AB9-4FB1-833B-00679A4C69D0}" type="slidenum">
              <a:rPr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PaaS : fonctionnement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 type="dt" idx="7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0" name="PlaceHolder 88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De nombreux services PaaS sont capables d’exécuter plusieurs versions d’un programme en même temps.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Ceci vous permet de créer des environnements de test en direct ou de revenir en arrière à partir de versions précédentes, par exemple.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Les offres d’hébergement Web sont un exemple </a:t>
            </a: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simple</a:t>
            </a: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 du fonctionnement d’une plate-forme en tant que service.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B4B7412C-4069-4D3A-989F-1D54921810F0}" type="slidenum">
              <a:rPr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PaaS : Particularités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 type="dt" idx="7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4" name="PlaceHolder 92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Lorsque vous utilisez la plate-forme en tant que service, seuls quelques langages spécifiques de programmation sont mis à votre disposition.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Vous devez donc choisir un fournisseur qui prend en charge les langages que vous utilisez.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Faites particulièrement attention aux exigences que requiert votre propre projet et aux langages de programmation utilisés par chaque solution PaaS.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E36886E6-5A54-4B75-BF42-2E3D457FF7B0}" type="slidenum">
              <a:rPr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PaaS : Domaines d’application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8" name="PlaceHolder 96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Par exemple, pour développer ou étendre de nouvelles interfaces de programmation (API).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Gestion des processus métier qui stocke les règles métier ou les accords de niveau de service.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Gérer les données critiques de l’entreprise,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6"/>
          </p:nvPr>
        </p:nvSpPr>
        <p:spPr/>
        <p:txBody>
          <a:bodyPr/>
          <a:lstStyle/>
          <a:p>
            <a:fld id="{150D4719-B25F-411C-8689-075B7448F86C}" type="slidenum">
              <a:rPr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PaaS : types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 type="dt" idx="7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2" name="PlaceHolder 100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PaaS lié à un produit SaaS: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but de ce type de PaaS est de créer un écosystème de développeurs autour d'une application SaaS.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Des exemples de ce type de PaaS sont: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648000" lvl="2" indent="-216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Workday Cloud Platform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648000" lvl="2" indent="-216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Salesforce App Cloud/Lightning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648000" lvl="2" indent="-216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Google App Engine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648000" lvl="2" indent="-216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Intuit Developer Network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66F3626E-3EB5-43B5-9AE8-B6EE5FBFF404}" type="slidenum">
              <a:rPr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PaaS : types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 type="dt" idx="8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6" name="PlaceHolder 104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PaaS lié à un environnement d'exploitation: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L'exemple le plus courant est un fournisseur d'infrastructure en tant que service (IaaS) incluant des capacités PaaS dans le cadre de l'offre IaaS et empiétant plus haut dans la pile.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Des exemples de ce type de PaaS sont: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648000" lvl="2" indent="-216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AWS Elastic Beanstalk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648000" lvl="2" indent="-216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AT&amp;T PaaS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648000" lvl="2" indent="-216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Microsoft Azure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A416A791-4BD0-4494-9F1B-89DF2D93BF60}" type="slidenum">
              <a:rPr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PaaS : types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0" name="PlaceHolder 108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PaaS Open-Cloud: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Ce type de PaaS n'est pas lié à un produit SaaS ou à un environnement d'exploitation, mais permet aux organisations d'utiliser une plateforme complètement distincte.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Exemples de PaaS Open-Cloud: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648000" lvl="2" indent="-216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Engine Yard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648000" lvl="2" indent="-216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Jelastic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648000" lvl="2" indent="-216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Apprenda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648000" lvl="2" indent="-216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Cloud Foundry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32ECE1F5-E5DF-413B-A10E-4290B0509E59}" type="slidenum">
              <a:rPr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PaaS : Avantages/Inconvénients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 type="dt" idx="8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4" name="PlaceHolder 112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L’utilisation de PaaS offre de nombreux avantages aux développeurs.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développement est beaucoup plus </a:t>
            </a: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rapide</a:t>
            </a: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 et facile sans l’acquisition et l’administration propres de l’infrastructure.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Les performances sont également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évolutives</a:t>
            </a: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,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Etendre</a:t>
            </a: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 ou </a:t>
            </a: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réduire</a:t>
            </a: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 la capacité réservée en fonction de vos besoins.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1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Economiser</a:t>
            </a: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 des coûts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94E5192D-0704-413F-8C8C-C430C59C6447}" type="slidenum">
              <a:rPr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PaaS : Inconvénients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dt" idx="8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8" name="PlaceHolder 116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Moins </a:t>
            </a: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de contrôle sur l’infrastructure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pas d’implémentation des nouveaux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fonctionnalités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Langages et outils restreints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 dirty="0">
                <a:solidFill>
                  <a:srgbClr val="000000"/>
                </a:solidFill>
                <a:uFillTx/>
                <a:latin typeface="Calibri"/>
                <a:ea typeface="Calibri"/>
              </a:rPr>
              <a:t>Risque interruption de service ou faillite du fournisseur de PaaS</a:t>
            </a:r>
            <a:endParaRPr lang="fr-FR" sz="2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0612C9AB-B7CD-483C-918F-02C52456777A}" type="slidenum">
              <a:rPr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title"/>
          </p:nvPr>
        </p:nvSpPr>
        <p:spPr>
          <a:xfrm>
            <a:off x="831960" y="1711080"/>
            <a:ext cx="10533600" cy="294372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800" b="0" u="none" strike="noStrike">
                <a:solidFill>
                  <a:srgbClr val="44445A"/>
                </a:solidFill>
                <a:uFillTx/>
                <a:latin typeface="Georgia"/>
              </a:rPr>
              <a:t>SaaS</a:t>
            </a:r>
            <a:endParaRPr lang="fr-FR" sz="4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lstStyle/>
          <a:p>
            <a:fld id="{50F9C04F-2805-46F0-A908-DF474D889F85}" type="slidenum">
              <a:rPr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SaaS : Définition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3" name="PlaceHolder 2"/>
          <p:cNvSpPr>
            <a:spLocks noGrp="1"/>
          </p:cNvSpPr>
          <p:nvPr>
            <p:ph type="dt" idx="8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5" name="PlaceHolder 120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est un modèle de distribution de logiciel au sein duquel un fournisseur tiers héberge les applications et les rend disponibles pour ses clients par l’intermédiaire d’internet,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Parmi les principaux fournisseurs d’un logiciel SaaS, on retrouve Salesforce, Oracle, IBM,Microsoft.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F0A3C53E-8E53-4B19-B139-D7BBE01F3454}" type="slidenum"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SaaS : Fonctionnement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 type="dt" idx="8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9" name="PlaceHolder 127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SaaS est étroitement lié aux modèles de livraison de service de logiciel ASP (application service provider) et informatique à la demande.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modèle de gestion d’ application SaaS hébergé est similaire à l’ASP. Dans les deux cas, le fournisseur héberge le logiciel du client et le délivre aux utilisateurs finaux via internet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5D5CE943-C4E6-45D6-BB96-557C24C98954}" type="slidenum"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SaaS : Fonctionnement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1" name="PlaceHolder 2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3" name="PlaceHolder 131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Avec le modèle de Logiciel à la Demande, le fournisseur offre aux clients un accès basé sur le réseau à une simple copie d’une application spécifiquement créée par le fournisseur pour la distribution Software as a Service.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 code source de l’application est le même pour tous les clients.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Quand de nouvelles fonctionnalités sont déployées, tous les clients peuvent en profiter.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1B4A841A-73A9-49AB-85FC-18E7E82F54EC}" type="slidenum"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SaaS : Fonctionnement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 type="dt" idx="8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7" name="PlaceHolder 135"/>
          <p:cNvSpPr txBox="1"/>
          <p:nvPr/>
        </p:nvSpPr>
        <p:spPr>
          <a:xfrm>
            <a:off x="900000" y="1769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En fonction du niveau de service, les données du client peuvent être stockées localement, sur le Cloud, ou les deux à la fois.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Les entreprises peuvent intégrer des applications à d’autres logiciels en utilisant des API.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95B466E1-0706-4F54-AB45-5B72BA592642}" type="slidenum">
              <a:rPr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SaaS : Fonctionnement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9" name="PlaceHolder 2"/>
          <p:cNvSpPr>
            <a:spLocks noGrp="1"/>
          </p:cNvSpPr>
          <p:nvPr>
            <p:ph type="dt" idx="8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1" name="PlaceHolder 139"/>
          <p:cNvSpPr txBox="1"/>
          <p:nvPr/>
        </p:nvSpPr>
        <p:spPr>
          <a:xfrm>
            <a:off x="900000" y="1517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On dénombre des applications SaaS pour les technologies fondamentales des entreprises, comme: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les emails,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la gestion de ventes,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la gestion de relations client (CRM),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la gestion de finances,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la gestion des ressources humaines,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la facturation et la collaboration.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les jeux vidéo (Gaming as a service)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l’Internet des Objets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5F2197F6-50F7-424E-AE7F-1F59E7DE65FF}" type="slidenum"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SaaS : Avantages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3" name="PlaceHolder 2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5" name="PlaceHolder 143"/>
          <p:cNvSpPr txBox="1"/>
          <p:nvPr/>
        </p:nvSpPr>
        <p:spPr>
          <a:xfrm>
            <a:off x="900000" y="1517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Mise en œuvre et mise à disposition rapides des services pour le client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L’entretien du logiciel étant géré par le prestataire, votre propre personnel est déchargé de ces tâches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Intégration d’un nouveau collaborateur facile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Utilisation des services en mode stationnaire et mobile avec toutes sortes de terminaux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771C5E37-CC7D-4FAD-863E-4C2BD92B198A}" type="slidenum">
              <a:rPr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SaaS : Avantages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 type="dt" idx="9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9" name="PlaceHolder 147"/>
          <p:cNvSpPr txBox="1"/>
          <p:nvPr/>
        </p:nvSpPr>
        <p:spPr>
          <a:xfrm>
            <a:off x="900000" y="1517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Les architectures de Cloud ont l’avantage d’offrir à tous les utilisateurs le même niveau de sécurité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Les nouvelles fonctionnalités et les mises à jour sont déployées et intégrées plus rapidement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Un modèle centré sur l’utilisateur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37A66F06-CA99-470F-9AE4-DE36B70CE5A1}" type="slidenum">
              <a:rPr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SaaS : Acteurs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1" name="PlaceHolder 2"/>
          <p:cNvSpPr>
            <a:spLocks noGrp="1"/>
          </p:cNvSpPr>
          <p:nvPr>
            <p:ph type="dt" idx="9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3" name="PlaceHolder 151"/>
          <p:cNvSpPr txBox="1"/>
          <p:nvPr/>
        </p:nvSpPr>
        <p:spPr>
          <a:xfrm>
            <a:off x="900000" y="151740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Slack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Salesforce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2400" b="0" u="none" strike="noStrike">
                <a:solidFill>
                  <a:srgbClr val="000000"/>
                </a:solidFill>
                <a:uFillTx/>
                <a:latin typeface="Calibri"/>
                <a:ea typeface="Calibri"/>
              </a:rPr>
              <a:t>Trello</a:t>
            </a:r>
            <a:endParaRPr lang="fr-FR" sz="2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24B73E9A-850B-449D-907E-F6654E7ED245}" type="slidenum">
              <a:rPr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title"/>
          </p:nvPr>
        </p:nvSpPr>
        <p:spPr>
          <a:xfrm>
            <a:off x="831960" y="1711080"/>
            <a:ext cx="10533600" cy="2943720"/>
          </a:xfrm>
          <a:prstGeom prst="rect">
            <a:avLst/>
          </a:prstGeom>
          <a:noFill/>
          <a:ln w="3816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4800" b="0" u="none" strike="noStrike">
                <a:solidFill>
                  <a:srgbClr val="44445A"/>
                </a:solidFill>
                <a:uFillTx/>
                <a:latin typeface="Georgia"/>
              </a:rPr>
              <a:t>Conclusion</a:t>
            </a:r>
            <a:endParaRPr lang="fr-FR" sz="4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lstStyle/>
          <a:p>
            <a:fld id="{972BCCD5-771B-4477-8526-101AB64FE509}" type="slidenum"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838080" y="510480"/>
            <a:ext cx="10514880" cy="103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fr-FR" sz="3200" b="0" u="none" strike="noStrike">
                <a:solidFill>
                  <a:srgbClr val="5B5B79"/>
                </a:solidFill>
                <a:uFillTx/>
                <a:latin typeface="Georgia"/>
              </a:rPr>
              <a:t>IaaS, PaaS et SaaS</a:t>
            </a:r>
            <a:endParaRPr lang="fr-FR" sz="32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fr-FR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8" name="PlaceHolder 2"/>
          <p:cNvSpPr>
            <a:spLocks noGrp="1"/>
          </p:cNvSpPr>
          <p:nvPr>
            <p:ph type="dt" idx="9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80" name="object 5"/>
          <p:cNvPicPr/>
          <p:nvPr/>
        </p:nvPicPr>
        <p:blipFill>
          <a:blip r:embed="rId3"/>
          <a:stretch/>
        </p:blipFill>
        <p:spPr>
          <a:xfrm>
            <a:off x="1440000" y="1135440"/>
            <a:ext cx="8412120" cy="498456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lstStyle/>
          <a:p>
            <a:fld id="{8160C41E-E082-42B0-83E7-B64955E93677}" type="slidenum">
              <a:rPr/>
              <a:t>43</a:t>
            </a:fld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6147686-0B55-138B-EF51-43C3EE5425FC}"/>
              </a:ext>
            </a:extLst>
          </p:cNvPr>
          <p:cNvSpPr txBox="1"/>
          <p:nvPr/>
        </p:nvSpPr>
        <p:spPr>
          <a:xfrm>
            <a:off x="9981720" y="2105600"/>
            <a:ext cx="188476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Plus on monte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 en abstraction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 (vers le SaaS),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 plus on gagne en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 simplicité, mais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 plus on perd en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 flexibilité.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dt" idx="9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dk1">
                    <a:tint val="82000"/>
                  </a:schemeClr>
                </a:solidFill>
                <a:uFillTx/>
                <a:latin typeface="Aptos"/>
              </a:rPr>
              <a:t>2025</a:t>
            </a:r>
            <a:endParaRPr lang="fr-F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/>
          </p:nvPr>
        </p:nvSpPr>
        <p:spPr>
          <a:xfrm>
            <a:off x="4252680" y="635256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200" b="0" u="none" strike="noStrike">
                <a:solidFill>
                  <a:schemeClr val="lt1">
                    <a:lumMod val="50000"/>
                  </a:schemeClr>
                </a:solidFill>
                <a:uFillTx/>
                <a:latin typeface="Calibri"/>
                <a:ea typeface="Calibri"/>
              </a:rPr>
              <a:t>Titre du cours</a:t>
            </a:r>
            <a:endParaRPr lang="fr-FR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/>
          </p:nvPr>
        </p:nvSpPr>
        <p:spPr>
          <a:xfrm>
            <a:off x="5527440" y="4413960"/>
            <a:ext cx="3701160" cy="58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fr-FR" sz="1400" b="0" u="sng" strike="noStrike">
                <a:solidFill>
                  <a:srgbClr val="2987B1"/>
                </a:solidFill>
                <a:uFillTx/>
                <a:latin typeface="Georgia"/>
                <a:ea typeface="Calibri"/>
              </a:rPr>
              <a:t>pedagogie@caplogy.com</a:t>
            </a:r>
            <a:endParaRPr lang="fr-FR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BDD3430C-091A-48BB-B2E7-459F13DB1F0B}" type="slidenum">
              <a:t>44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hème Office">
  <a:themeElements>
    <a:clrScheme name="Personnalisé 1">
      <a:dk1>
        <a:srgbClr val="5B5B79"/>
      </a:dk1>
      <a:lt1>
        <a:srgbClr val="FFFFFF"/>
      </a:lt1>
      <a:dk2>
        <a:srgbClr val="0E2841"/>
      </a:dk2>
      <a:lt2>
        <a:srgbClr val="E8E8E8"/>
      </a:lt2>
      <a:accent1>
        <a:srgbClr val="5B5B79"/>
      </a:accent1>
      <a:accent2>
        <a:srgbClr val="71D2E3"/>
      </a:accent2>
      <a:accent3>
        <a:srgbClr val="44445A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</TotalTime>
  <Words>2068</Words>
  <Application>Microsoft Office PowerPoint</Application>
  <PresentationFormat>Grand écran</PresentationFormat>
  <Paragraphs>326</Paragraphs>
  <Slides>44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11</vt:i4>
      </vt:variant>
      <vt:variant>
        <vt:lpstr>Titres des diapositives</vt:lpstr>
      </vt:variant>
      <vt:variant>
        <vt:i4>44</vt:i4>
      </vt:variant>
    </vt:vector>
  </HeadingPairs>
  <TitlesOfParts>
    <vt:vector size="62" baseType="lpstr">
      <vt:lpstr>Aptos</vt:lpstr>
      <vt:lpstr>Arial</vt:lpstr>
      <vt:lpstr>Calibri</vt:lpstr>
      <vt:lpstr>Georgia</vt:lpstr>
      <vt:lpstr>Symbol</vt:lpstr>
      <vt:lpstr>Times New Roman</vt:lpstr>
      <vt:lpstr>Wingdings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Thème Office</vt:lpstr>
      <vt:lpstr>Ch. 2 : Modèles de service Cloud  </vt:lpstr>
      <vt:lpstr>Objectifs du cours</vt:lpstr>
      <vt:lpstr>Modèles de Services Cloud</vt:lpstr>
      <vt:lpstr>Modèles de Services Cloud</vt:lpstr>
      <vt:lpstr>Schématisation des concepts de IaaS, PaaS, SaaS</vt:lpstr>
      <vt:lpstr>IaaS</vt:lpstr>
      <vt:lpstr>IaaS : Définition</vt:lpstr>
      <vt:lpstr>IaaS : fonctionnement</vt:lpstr>
      <vt:lpstr>IaaS : fonctionnement / fournisseur</vt:lpstr>
      <vt:lpstr>IaaS : fonctionnement / fournisseur</vt:lpstr>
      <vt:lpstr>IaaS : fonctionnement / Client</vt:lpstr>
      <vt:lpstr>IaaS : fonctionnement / Client</vt:lpstr>
      <vt:lpstr>IaaS : différents types</vt:lpstr>
      <vt:lpstr>IaaS : Publique</vt:lpstr>
      <vt:lpstr>IaaS : Privée</vt:lpstr>
      <vt:lpstr>IaaS : Hybride</vt:lpstr>
      <vt:lpstr>IaaS : Contextes Professionnels</vt:lpstr>
      <vt:lpstr>IaaS : Avantages</vt:lpstr>
      <vt:lpstr>IaaS : Inconvénients</vt:lpstr>
      <vt:lpstr>IaaS : Les acteurs</vt:lpstr>
      <vt:lpstr>IaaS : Les acteurs</vt:lpstr>
      <vt:lpstr>PaaS</vt:lpstr>
      <vt:lpstr>PaaS : Définition</vt:lpstr>
      <vt:lpstr>PaaS : fonctionnement</vt:lpstr>
      <vt:lpstr>PaaS : fonctionnement</vt:lpstr>
      <vt:lpstr>PaaS : Particularités</vt:lpstr>
      <vt:lpstr>PaaS : Domaines d’application</vt:lpstr>
      <vt:lpstr>PaaS : types </vt:lpstr>
      <vt:lpstr>PaaS : types </vt:lpstr>
      <vt:lpstr>PaaS : types </vt:lpstr>
      <vt:lpstr>PaaS : Avantages/Inconvénients </vt:lpstr>
      <vt:lpstr>PaaS : Inconvénients </vt:lpstr>
      <vt:lpstr>SaaS</vt:lpstr>
      <vt:lpstr>SaaS : Définition </vt:lpstr>
      <vt:lpstr>SaaS : Fonctionnement </vt:lpstr>
      <vt:lpstr>SaaS : Fonctionnement </vt:lpstr>
      <vt:lpstr>SaaS : Fonctionnement </vt:lpstr>
      <vt:lpstr>SaaS : Fonctionnement </vt:lpstr>
      <vt:lpstr>SaaS : Avantages </vt:lpstr>
      <vt:lpstr>SaaS : Avantages </vt:lpstr>
      <vt:lpstr>SaaS : Acteurs </vt:lpstr>
      <vt:lpstr>Conclusion</vt:lpstr>
      <vt:lpstr>IaaS, PaaS et SaaS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Racha HACHEM</dc:creator>
  <dc:description/>
  <cp:lastModifiedBy>Houcine  HAMANA</cp:lastModifiedBy>
  <cp:revision>31</cp:revision>
  <dcterms:created xsi:type="dcterms:W3CDTF">2025-01-24T08:49:55Z</dcterms:created>
  <dcterms:modified xsi:type="dcterms:W3CDTF">2026-06-10T08:43:24Z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Grand écran</vt:lpwstr>
  </property>
  <property fmtid="{D5CDD505-2E9C-101B-9397-08002B2CF9AE}" pid="3" name="Slides">
    <vt:i4>14</vt:i4>
  </property>
</Properties>
</file>