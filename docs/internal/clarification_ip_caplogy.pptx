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371600"/>
            <a:ext cx="7315200" cy="2286000"/>
          </a:xfrm>
          <a:prstGeom prst="rect">
            <a:avLst/>
          </a:prstGeom>
          <a:noFill/>
        </p:spPr>
        <p:txBody>
          <a:bodyPr wrap="square">
            <a:spAutoFit/>
          </a:bodyPr>
          <a:lstStyle/>
          <a:p>
            <a:pPr algn="ctr">
              <a:defRPr sz="3600" b="1" i="0">
                <a:solidFill>
                  <a:srgbClr val="0F4C81"/>
                </a:solidFill>
                <a:latin typeface="Arial"/>
              </a:defRPr>
            </a:pPr>
            <a:r>
              <a:t>Clarification de Périmètre &amp; IP</a:t>
            </a:r>
          </a:p>
          <a:p>
            <a:br/>
            <a:pPr algn="ctr">
              <a:defRPr sz="2000" b="0" i="0">
                <a:solidFill>
                  <a:srgbClr val="666666"/>
                </a:solidFill>
                <a:latin typeface="Arial"/>
              </a:defRPr>
            </a:pPr>
            <a:r>
              <a:t>CYNIC / Projet Talaria ↔ Caplogy</a:t>
            </a:r>
          </a:p>
          <a:p>
            <a:pPr algn="ctr">
              <a:defRPr sz="1400" b="0" i="1">
                <a:solidFill>
                  <a:srgbClr val="808080"/>
                </a:solidFill>
                <a:latin typeface="Arial"/>
              </a:defRPr>
            </a:pPr>
            <a:r>
              <a:t>Note d'échange et d'antériorité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solidFill>
                  <a:srgbClr val="0F4C81"/>
                </a:solidFill>
                <a:latin typeface="Arial"/>
              </a:defRPr>
            </a:pPr>
            <a:r>
              <a:t>1. Collaboration Orientée Résultats</a:t>
            </a:r>
          </a:p>
        </p:txBody>
      </p:sp>
      <p:sp>
        <p:nvSpPr>
          <p:cNvPr id="3" name="TextBox 2"/>
          <p:cNvSpPr txBox="1"/>
          <p:nvPr/>
        </p:nvSpPr>
        <p:spPr>
          <a:xfrm>
            <a:off x="457200" y="1371600"/>
            <a:ext cx="8229600" cy="3200400"/>
          </a:xfrm>
          <a:prstGeom prst="rect">
            <a:avLst/>
          </a:prstGeom>
          <a:noFill/>
        </p:spPr>
        <p:txBody>
          <a:bodyPr wrap="square">
            <a:spAutoFit/>
          </a:bodyPr>
          <a:lstStyle/>
          <a:p>
            <a:pPr>
              <a:defRPr sz="1800" b="1" i="0">
                <a:solidFill>
                  <a:srgbClr val="0F4C81"/>
                </a:solidFill>
                <a:latin typeface="Arial"/>
              </a:defRPr>
            </a:pPr>
            <a:r>
              <a:t>Équilibre et valeur d'échange de la R&amp;D :</a:t>
            </a:r>
          </a:p>
          <a:p>
            <a:pPr>
              <a:defRPr sz="1350" b="0" i="0">
                <a:solidFill>
                  <a:srgbClr val="333333"/>
                </a:solidFill>
                <a:latin typeface="Arial"/>
              </a:defRPr>
            </a:pPr>
            <a:r>
              <a:t>• Stage non rémunéré : Durée de 7 semaines (180 heures), en dessous du seuil de gratification légale obligatoire de 2 mois (Article 5). La valeur d'échange est d'ingénieur à ingénieur.</a:t>
            </a:r>
          </a:p>
          <a:p>
            <a:pPr>
              <a:defRPr sz="1350" b="0" i="0">
                <a:solidFill>
                  <a:srgbClr val="333333"/>
                </a:solidFill>
                <a:latin typeface="Arial"/>
              </a:defRPr>
            </a:pPr>
            <a:r>
              <a:t>• Organisation flexible : Samir valide l'autonomie totale sur nos plannings et tranches horaires (temps partiel jusqu'au 22/06, puis temps plein dès le 23/06), l'essentiel étant la livraison du PoC.</a:t>
            </a:r>
          </a:p>
          <a:p>
            <a:pPr>
              <a:defRPr sz="1350" b="0" i="0">
                <a:solidFill>
                  <a:srgbClr val="333333"/>
                </a:solidFill>
                <a:latin typeface="Arial"/>
              </a:defRPr>
            </a:pPr>
            <a:r>
              <a:t>• Relation saine : Cette indépendance horaire implique naturellement notre droit de poursuivre en parallèle nos développements personnels souverains (CYNIC/Talaria).</a:t>
            </a:r>
          </a:p>
          <a:p>
            <a:pPr>
              <a:defRPr sz="1250" b="0" i="1">
                <a:solidFill>
                  <a:srgbClr val="808080"/>
                </a:solidFill>
                <a:latin typeface="Arial"/>
              </a:defRPr>
            </a:pPr>
            <a:r>
              <a:t>« Un échange gagnant-gagnant : Caplogy obtient un PoC industriel Ethereum gratuit, et nous conservons la pleine souveraineté sur notre R&amp;D personnelle Solana.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solidFill>
                  <a:srgbClr val="0F4C81"/>
                </a:solidFill>
                <a:latin typeface="Arial"/>
              </a:defRPr>
            </a:pPr>
            <a:r>
              <a:t>2. Antériorité &amp; Transparence Horaire</a:t>
            </a:r>
          </a:p>
        </p:txBody>
      </p:sp>
      <p:graphicFrame>
        <p:nvGraphicFramePr>
          <p:cNvPr id="3" name="Table 2"/>
          <p:cNvGraphicFramePr>
            <a:graphicFrameLocks noGrp="1"/>
          </p:cNvGraphicFramePr>
          <p:nvPr/>
        </p:nvGraphicFramePr>
        <p:xfrm>
          <a:off x="457200" y="1280160"/>
          <a:ext cx="8229600" cy="2560320"/>
        </p:xfrm>
        <a:graphic>
          <a:graphicData uri="http://schemas.openxmlformats.org/drawingml/2006/table">
            <a:tbl>
              <a:tblPr firstRow="1" bandRow="1">
                <a:tableStyleId>{5C22544A-7EE6-4342-B048-85BDC9FD1C3A}</a:tableStyleId>
              </a:tblPr>
              <a:tblGrid>
                <a:gridCol w="2011680"/>
                <a:gridCol w="1828800"/>
                <a:gridCol w="4389120"/>
              </a:tblGrid>
              <a:tr h="426720">
                <a:tc>
                  <a:txBody>
                    <a:bodyPr/>
                    <a:lstStyle/>
                    <a:p>
                      <a:pPr>
                        <a:defRPr b="1" sz="1200">
                          <a:solidFill>
                            <a:srgbClr val="FFFFFF"/>
                          </a:solidFill>
                        </a:defRPr>
                      </a:pPr>
                      <a:r>
                        <a:t>Projet / Événement</a:t>
                      </a:r>
                    </a:p>
                  </a:txBody>
                  <a:tcPr/>
                </a:tc>
                <a:tc>
                  <a:txBody>
                    <a:bodyPr/>
                    <a:lstStyle/>
                    <a:p>
                      <a:pPr>
                        <a:defRPr b="1" sz="1200">
                          <a:solidFill>
                            <a:srgbClr val="FFFFFF"/>
                          </a:solidFill>
                        </a:defRPr>
                      </a:pPr>
                      <a:r>
                        <a:t>Date de Début</a:t>
                      </a:r>
                    </a:p>
                  </a:txBody>
                  <a:tcPr/>
                </a:tc>
                <a:tc>
                  <a:txBody>
                    <a:bodyPr/>
                    <a:lstStyle/>
                    <a:p>
                      <a:pPr>
                        <a:defRPr b="1" sz="1200">
                          <a:solidFill>
                            <a:srgbClr val="FFFFFF"/>
                          </a:solidFill>
                        </a:defRPr>
                      </a:pPr>
                      <a:r>
                        <a:t>Description &amp; Preuve</a:t>
                      </a:r>
                    </a:p>
                  </a:txBody>
                  <a:tcPr/>
                </a:tc>
              </a:tr>
              <a:tr h="426720">
                <a:tc>
                  <a:txBody>
                    <a:bodyPr/>
                    <a:lstStyle/>
                    <a:p>
                      <a:pPr>
                        <a:defRPr sz="1000" b="1"/>
                      </a:pPr>
                      <a:r>
                        <a:t>Recherches initiales</a:t>
                      </a:r>
                    </a:p>
                  </a:txBody>
                  <a:tcPr/>
                </a:tc>
                <a:tc>
                  <a:txBody>
                    <a:bodyPr/>
                    <a:lstStyle/>
                    <a:p>
                      <a:pPr>
                        <a:defRPr sz="1000"/>
                      </a:pPr>
                      <a:r>
                        <a:t>Fin 2025 / Début 2026</a:t>
                      </a:r>
                    </a:p>
                  </a:txBody>
                  <a:tcPr/>
                </a:tc>
                <a:tc>
                  <a:txBody>
                    <a:bodyPr/>
                    <a:lstStyle/>
                    <a:p>
                      <a:pPr>
                        <a:defRPr sz="1000"/>
                      </a:pPr>
                      <a:r>
                        <a:t>Idéation et cadrage théorique de l'écosystème.</a:t>
                      </a:r>
                    </a:p>
                  </a:txBody>
                  <a:tcPr/>
                </a:tc>
              </a:tr>
              <a:tr h="426720">
                <a:tc>
                  <a:txBody>
                    <a:bodyPr/>
                    <a:lstStyle/>
                    <a:p>
                      <a:pPr>
                        <a:defRPr sz="1000" b="1"/>
                      </a:pPr>
                      <a:r>
                        <a:t>Blitz &amp; Chill</a:t>
                      </a:r>
                    </a:p>
                  </a:txBody>
                  <a:tcPr/>
                </a:tc>
                <a:tc>
                  <a:txBody>
                    <a:bodyPr/>
                    <a:lstStyle/>
                    <a:p>
                      <a:pPr>
                        <a:defRPr sz="1000"/>
                      </a:pPr>
                      <a:r>
                        <a:t>Février 2026</a:t>
                      </a:r>
                    </a:p>
                  </a:txBody>
                  <a:tcPr/>
                </a:tc>
                <a:tc>
                  <a:txBody>
                    <a:bodyPr/>
                    <a:lstStyle/>
                    <a:p>
                      <a:pPr>
                        <a:defRPr sz="1000"/>
                      </a:pPr>
                      <a:r>
                        <a:t>IP appartenant exclusivement à S. (Ragnar-no-sleep).</a:t>
                      </a:r>
                    </a:p>
                  </a:txBody>
                  <a:tcPr/>
                </a:tc>
              </a:tr>
              <a:tr h="426720">
                <a:tc>
                  <a:txBody>
                    <a:bodyPr/>
                    <a:lstStyle/>
                    <a:p>
                      <a:pPr>
                        <a:defRPr sz="1000" b="1"/>
                      </a:pPr>
                      <a:r>
                        <a:t>CYNIC</a:t>
                      </a:r>
                    </a:p>
                  </a:txBody>
                  <a:tcPr/>
                </a:tc>
                <a:tc>
                  <a:txBody>
                    <a:bodyPr/>
                    <a:lstStyle/>
                    <a:p>
                      <a:pPr>
                        <a:defRPr sz="1000"/>
                      </a:pPr>
                      <a:r>
                        <a:t>Mars 2026</a:t>
                      </a:r>
                    </a:p>
                  </a:txBody>
                  <a:tcPr/>
                </a:tc>
                <a:tc>
                  <a:txBody>
                    <a:bodyPr/>
                    <a:lstStyle/>
                    <a:p>
                      <a:pPr>
                        <a:defRPr sz="1000"/>
                      </a:pPr>
                      <a:r>
                        <a:t>Démarrage officiel (Gemini Hackathon) - github.com/zeyxx/CYNIC.</a:t>
                      </a:r>
                    </a:p>
                  </a:txBody>
                  <a:tcPr/>
                </a:tc>
              </a:tr>
              <a:tr h="426720">
                <a:tc>
                  <a:txBody>
                    <a:bodyPr/>
                    <a:lstStyle/>
                    <a:p>
                      <a:pPr>
                        <a:defRPr sz="1000" b="1"/>
                      </a:pPr>
                      <a:r>
                        <a:t>Stage (Convention)</a:t>
                      </a:r>
                    </a:p>
                  </a:txBody>
                  <a:tcPr/>
                </a:tc>
                <a:tc>
                  <a:txBody>
                    <a:bodyPr/>
                    <a:lstStyle/>
                    <a:p>
                      <a:pPr>
                        <a:defRPr sz="1000"/>
                      </a:pPr>
                      <a:r>
                        <a:t>1 Juin 2026</a:t>
                      </a:r>
                    </a:p>
                  </a:txBody>
                  <a:tcPr/>
                </a:tc>
                <a:tc>
                  <a:txBody>
                    <a:bodyPr/>
                    <a:lstStyle/>
                    <a:p>
                      <a:pPr>
                        <a:defRPr sz="1000"/>
                      </a:pPr>
                      <a:r>
                        <a:t>Entrée en vigueur théorique (temps partiel cours B2).</a:t>
                      </a:r>
                    </a:p>
                  </a:txBody>
                  <a:tcPr/>
                </a:tc>
              </a:tr>
              <a:tr h="426720">
                <a:tc>
                  <a:txBody>
                    <a:bodyPr/>
                    <a:lstStyle/>
                    <a:p>
                      <a:pPr>
                        <a:defRPr sz="1000" b="1"/>
                      </a:pPr>
                      <a:r>
                        <a:t>Stage (Physique)</a:t>
                      </a:r>
                    </a:p>
                  </a:txBody>
                  <a:tcPr/>
                </a:tc>
                <a:tc>
                  <a:txBody>
                    <a:bodyPr/>
                    <a:lstStyle/>
                    <a:p>
                      <a:pPr>
                        <a:defRPr sz="1000"/>
                      </a:pPr>
                      <a:r>
                        <a:t>23 Juin 2026</a:t>
                      </a:r>
                    </a:p>
                  </a:txBody>
                  <a:tcPr/>
                </a:tc>
                <a:tc>
                  <a:txBody>
                    <a:bodyPr/>
                    <a:lstStyle/>
                    <a:p>
                      <a:pPr>
                        <a:defRPr sz="1000"/>
                      </a:pPr>
                      <a:r>
                        <a:t>Arrivée physique (stage non rémunéré / focus livrables).</a:t>
                      </a:r>
                    </a:p>
                  </a:txBody>
                  <a:tcPr/>
                </a:tc>
              </a:tr>
            </a:tbl>
          </a:graphicData>
        </a:graphic>
      </p:graphicFrame>
      <p:sp>
        <p:nvSpPr>
          <p:cNvPr id="4" name="TextBox 3"/>
          <p:cNvSpPr txBox="1"/>
          <p:nvPr/>
        </p:nvSpPr>
        <p:spPr>
          <a:xfrm>
            <a:off x="457200" y="3931920"/>
            <a:ext cx="8229600" cy="914400"/>
          </a:xfrm>
          <a:prstGeom prst="rect">
            <a:avLst/>
          </a:prstGeom>
          <a:noFill/>
        </p:spPr>
        <p:txBody>
          <a:bodyPr wrap="square">
            <a:spAutoFit/>
          </a:bodyPr>
          <a:lstStyle/>
          <a:p>
            <a:pPr>
              <a:defRPr sz="1150" b="0" i="1">
                <a:solidFill>
                  <a:srgbClr val="808080"/>
                </a:solidFill>
                <a:latin typeface="Arial"/>
              </a:defRPr>
            </a:pPr>
            <a:r>
              <a:t>Note de transparence : Compte tenu de la flexibilité horaire (travail par objectifs), des commits ont été réalisés sur CYNIC durant les tranches de journée. Cette R&amp;D personnelle est hermétique aux développements Caplogy.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solidFill>
                  <a:srgbClr val="0F4C81"/>
                </a:solidFill>
                <a:latin typeface="Arial"/>
              </a:defRPr>
            </a:pPr>
            <a:r>
              <a:t>3. Séparation Conceptuelle et Logique</a:t>
            </a:r>
          </a:p>
        </p:txBody>
      </p:sp>
      <p:sp>
        <p:nvSpPr>
          <p:cNvPr id="3" name="TextBox 2"/>
          <p:cNvSpPr txBox="1"/>
          <p:nvPr/>
        </p:nvSpPr>
        <p:spPr>
          <a:xfrm>
            <a:off x="457200" y="1188720"/>
            <a:ext cx="8229600" cy="3657600"/>
          </a:xfrm>
          <a:prstGeom prst="rect">
            <a:avLst/>
          </a:prstGeom>
          <a:noFill/>
        </p:spPr>
        <p:txBody>
          <a:bodyPr wrap="square">
            <a:spAutoFit/>
          </a:bodyPr>
          <a:lstStyle/>
          <a:p>
            <a:pPr>
              <a:defRPr sz="1600" b="1" i="0">
                <a:solidFill>
                  <a:srgbClr val="0F4C81"/>
                </a:solidFill>
                <a:latin typeface="Arial"/>
              </a:defRPr>
            </a:pPr>
            <a:r>
              <a:t>L'ingéniosité des architectures logiques de privacy</a:t>
            </a:r>
          </a:p>
          <a:p>
            <a:pPr>
              <a:defRPr sz="1250" b="0" i="0">
                <a:solidFill>
                  <a:srgbClr val="333333"/>
                </a:solidFill>
                <a:latin typeface="Arial"/>
              </a:defRPr>
            </a:pPr>
            <a:r>
              <a:t>• Concepts préexistants (Solana SVM) : L'architecture logique de GASdf (meta-signer, state channels et spigots sur Solana) a été conçue lors du hackathon de mars 2026 et constitue notre propriété intellectuelle préexistante.</a:t>
            </a:r>
          </a:p>
          <a:p>
            <a:pPr>
              <a:defRPr sz="1250" b="0" i="0">
                <a:solidFill>
                  <a:srgbClr val="333333"/>
                </a:solidFill>
                <a:latin typeface="Arial"/>
              </a:defRPr>
            </a:pPr>
            <a:r>
              <a:t>• Concepts de Stage (Ethereum EVM) : Les innovations, modèles de privacy et architectures logiques développés pour le projet de stage ('privacy-framework-ethereum') sont spécifiques à l'écosystème Ethereum et appartiennent à Caplogy.</a:t>
            </a:r>
          </a:p>
          <a:p>
            <a:pPr>
              <a:defRPr sz="1250" b="0" i="0">
                <a:solidFill>
                  <a:srgbClr val="333333"/>
                </a:solidFill>
                <a:latin typeface="Arial"/>
              </a:defRPr>
            </a:pPr>
            <a:r>
              <a:t>• Différence d'Ingénierie : Les contraintes de runtime (Solidity/EVM vs Rust/SVM) et modèles de comptes imposent des designs logiques incompatibles, garantissant l'étanchéité des inventions.</a:t>
            </a:r>
          </a:p>
          <a:p>
            <a:pPr>
              <a:defRPr sz="1150" b="0" i="1">
                <a:solidFill>
                  <a:srgbClr val="808080"/>
                </a:solidFill>
                <a:latin typeface="Arial"/>
              </a:defRPr>
            </a:pPr>
            <a:r>
              <a:t>« Toute invention conceptuelle spécifique à la R&amp;D Ethereum de Caplogy appartient à Caplogy ; nos concepts Solana préexistants restent nôtres.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solidFill>
                  <a:srgbClr val="0F4C81"/>
                </a:solidFill>
                <a:latin typeface="Arial"/>
              </a:defRPr>
            </a:pPr>
            <a:r>
              <a:t>4. Formalisation &amp; Article 12</a:t>
            </a:r>
          </a:p>
        </p:txBody>
      </p:sp>
      <p:sp>
        <p:nvSpPr>
          <p:cNvPr id="3" name="TextBox 2"/>
          <p:cNvSpPr txBox="1"/>
          <p:nvPr/>
        </p:nvSpPr>
        <p:spPr>
          <a:xfrm>
            <a:off x="457200" y="1188720"/>
            <a:ext cx="8229600" cy="3657600"/>
          </a:xfrm>
          <a:prstGeom prst="rect">
            <a:avLst/>
          </a:prstGeom>
          <a:noFill/>
        </p:spPr>
        <p:txBody>
          <a:bodyPr wrap="square">
            <a:spAutoFit/>
          </a:bodyPr>
          <a:lstStyle/>
          <a:p>
            <a:pPr>
              <a:defRPr sz="1600" b="1" i="0">
                <a:solidFill>
                  <a:srgbClr val="0F4C81"/>
                </a:solidFill>
                <a:latin typeface="Arial"/>
              </a:defRPr>
            </a:pPr>
            <a:r>
              <a:t>Conformité à l'Article 12 de la Convention de Stage :</a:t>
            </a:r>
          </a:p>
          <a:p>
            <a:pPr>
              <a:defRPr sz="1300" b="0" i="0">
                <a:solidFill>
                  <a:srgbClr val="333333"/>
                </a:solidFill>
                <a:latin typeface="Arial"/>
              </a:defRPr>
            </a:pPr>
            <a:r>
              <a:t>• Article 12 (Propriété Intellectuelle) : La convention stipule expressément que 'Le cas échéant, un contrat de cession de droits de propriété intellectuelle devra être signé entre le Stagiaire et l'Organisme d'accueil'.</a:t>
            </a:r>
          </a:p>
          <a:p>
            <a:pPr>
              <a:defRPr sz="1300" b="0" i="0">
                <a:solidFill>
                  <a:srgbClr val="333333"/>
                </a:solidFill>
                <a:latin typeface="Arial"/>
              </a:defRPr>
            </a:pPr>
            <a:r>
              <a:t>• Conséquence directe : Caplogy ne détient pas automatiquement les droits. Une convention/contrat de cession spécifique est requis. Notre démarche de clarification s'inscrit donc strictement dans le respect de notre convention.</a:t>
            </a:r>
          </a:p>
          <a:p>
            <a:pPr>
              <a:defRPr sz="1300" b="0" i="0">
                <a:solidFill>
                  <a:srgbClr val="333333"/>
                </a:solidFill>
                <a:latin typeface="Arial"/>
              </a:defRPr>
            </a:pPr>
            <a:r>
              <a:t>• Processus en deux temps : Ce premier échange permet de s'aligner sur les principes. Nous enverrons un e-mail de synthèse ce soir, et proposerons d'ici quelques jours un second rendez-vous pour relire et signer un avenant simple ou contrat de cession conforme à l'Article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solidFill>
                  <a:srgbClr val="0F4C81"/>
                </a:solidFill>
                <a:latin typeface="Arial"/>
              </a:defRPr>
            </a:pPr>
            <a:r>
              <a:t>5. E-mail de Suivi (Trace Écrite)</a:t>
            </a:r>
          </a:p>
        </p:txBody>
      </p:sp>
      <p:sp>
        <p:nvSpPr>
          <p:cNvPr id="3" name="TextBox 2"/>
          <p:cNvSpPr txBox="1"/>
          <p:nvPr/>
        </p:nvSpPr>
        <p:spPr>
          <a:xfrm>
            <a:off x="457200" y="1188720"/>
            <a:ext cx="8229600" cy="3657600"/>
          </a:xfrm>
          <a:prstGeom prst="rect">
            <a:avLst/>
          </a:prstGeom>
          <a:noFill/>
        </p:spPr>
        <p:txBody>
          <a:bodyPr wrap="square">
            <a:spAutoFit/>
          </a:bodyPr>
          <a:lstStyle/>
          <a:p>
            <a:pPr>
              <a:defRPr sz="1400" b="1" i="0">
                <a:solidFill>
                  <a:srgbClr val="808080"/>
                </a:solidFill>
                <a:latin typeface="Arial"/>
              </a:defRPr>
            </a:pPr>
            <a:r>
              <a:t>Mail type à envoyer après notre premier échange (à ajuster au carnet) :</a:t>
            </a:r>
          </a:p>
          <a:p>
            <a:pPr>
              <a:defRPr sz="1100" b="1" i="0">
                <a:solidFill>
                  <a:srgbClr val="333333"/>
                </a:solidFill>
                <a:latin typeface="Arial"/>
              </a:defRPr>
            </a:pPr>
            <a:r>
              <a:t>Objet : Transparence - R&amp;D personnelle hors temps de travail (Projet TALARIA / CYNIC)</a:t>
            </a:r>
          </a:p>
          <a:p>
            <a:pPr>
              <a:defRPr sz="800" b="0" i="0">
                <a:solidFill>
                  <a:srgbClr val="666666"/>
                </a:solidFill>
                <a:latin typeface="Arial"/>
              </a:defRPr>
            </a:pPr>
            <a:r>
              <a:t>Salut Samir,</a:t>
            </a:r>
            <a:br/>
            <a:r>
              <a:t>Je tenais tout d'abord à te remercier pour cette opportunité de concevoir un projet d'une telle envergure (testnet de 50 à 100 validateurs). C'est une vraie chance de pouvoir travailler sur des problématiques d'architecture si proches des conditions de production réelles.</a:t>
            </a:r>
            <a:br/>
            <a:r>
              <a:t>Faisant suite à notre premier échange de ce matin, et dans l'attente de notre second rendez-vous pour formaliser les termes d'un avenant simple (ou contrat de cession d'IP en application de l'Article 12 de ma convention), je t'envoie ce petit mail par souci de transparence et d'hygiène professionnelle comme convenu.</a:t>
            </a:r>
            <a:br/>
            <a:r>
              <a:t>Pour rappel :</a:t>
            </a:r>
            <a:br/>
            <a:r>
              <a:t>- CYNIC (mon IP) a démarré en mars 2026, Blitz &amp; Chill (IP de S.) en février 2026, antérieurement au début de mon stage.</a:t>
            </a:r>
            <a:br/>
            <a:r>
              <a:t>- Conformément à notre organisation basée sur les livrables finaux et la flexibilité horaire qui en découle, une partie de mes travaux R&amp;D personnels sur CYNIC se déroule de façon transparente sur des tranches de journée, sur mon matériel personnel.</a:t>
            </a:r>
            <a:br/>
            <a:r>
              <a:t>- Concernant la R&amp;D sur le sujet 'privacy-framework-ethereum' chez Caplogy, nous convenons d'une étanchéité absolue : les concepts, designs logiques et implémentations développés spécifiquement pour Caplogy appartiennent à Caplogy (avec possibilité d'adaptation conceptuelle pour nos travaux sur Solana), tandis que nos architectures Solana préexistantes ou développées en personnel restent nôtres. Aucun code ou invention technique ne sera croisé.</a:t>
            </a:r>
            <a:br/>
            <a:r>
              <a:t>Merci encore pour ton écoute, tes conseils et cet échange très constructif.</a:t>
            </a:r>
            <a:br/>
            <a:r>
              <a:t>Titouan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